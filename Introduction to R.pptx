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</p:sldMasterIdLst>
  <p:notesMasterIdLst>
    <p:notesMasterId r:id="rId103"/>
  </p:notesMasterIdLst>
  <p:sldIdLst>
    <p:sldId id="257" r:id="rId5"/>
    <p:sldId id="258" r:id="rId6"/>
    <p:sldId id="259" r:id="rId7"/>
    <p:sldId id="269" r:id="rId8"/>
    <p:sldId id="329" r:id="rId9"/>
    <p:sldId id="331" r:id="rId10"/>
    <p:sldId id="275" r:id="rId11"/>
    <p:sldId id="277" r:id="rId12"/>
    <p:sldId id="333" r:id="rId13"/>
    <p:sldId id="278" r:id="rId14"/>
    <p:sldId id="334" r:id="rId15"/>
    <p:sldId id="276" r:id="rId16"/>
    <p:sldId id="353" r:id="rId17"/>
    <p:sldId id="335" r:id="rId18"/>
    <p:sldId id="260" r:id="rId19"/>
    <p:sldId id="279" r:id="rId20"/>
    <p:sldId id="281" r:id="rId21"/>
    <p:sldId id="282" r:id="rId22"/>
    <p:sldId id="283" r:id="rId23"/>
    <p:sldId id="345" r:id="rId24"/>
    <p:sldId id="285" r:id="rId25"/>
    <p:sldId id="346" r:id="rId26"/>
    <p:sldId id="284" r:id="rId27"/>
    <p:sldId id="286" r:id="rId28"/>
    <p:sldId id="343" r:id="rId29"/>
    <p:sldId id="347" r:id="rId30"/>
    <p:sldId id="336" r:id="rId31"/>
    <p:sldId id="342" r:id="rId32"/>
    <p:sldId id="287" r:id="rId33"/>
    <p:sldId id="337" r:id="rId34"/>
    <p:sldId id="348" r:id="rId35"/>
    <p:sldId id="338" r:id="rId36"/>
    <p:sldId id="354" r:id="rId37"/>
    <p:sldId id="349" r:id="rId38"/>
    <p:sldId id="339" r:id="rId39"/>
    <p:sldId id="355" r:id="rId40"/>
    <p:sldId id="340" r:id="rId41"/>
    <p:sldId id="261" r:id="rId42"/>
    <p:sldId id="373" r:id="rId43"/>
    <p:sldId id="289" r:id="rId44"/>
    <p:sldId id="365" r:id="rId45"/>
    <p:sldId id="374" r:id="rId46"/>
    <p:sldId id="364" r:id="rId47"/>
    <p:sldId id="367" r:id="rId48"/>
    <p:sldId id="263" r:id="rId49"/>
    <p:sldId id="292" r:id="rId50"/>
    <p:sldId id="363" r:id="rId51"/>
    <p:sldId id="295" r:id="rId52"/>
    <p:sldId id="369" r:id="rId53"/>
    <p:sldId id="370" r:id="rId54"/>
    <p:sldId id="298" r:id="rId55"/>
    <p:sldId id="368" r:id="rId56"/>
    <p:sldId id="294" r:id="rId57"/>
    <p:sldId id="293" r:id="rId58"/>
    <p:sldId id="344" r:id="rId59"/>
    <p:sldId id="375" r:id="rId60"/>
    <p:sldId id="296" r:id="rId61"/>
    <p:sldId id="371" r:id="rId62"/>
    <p:sldId id="264" r:id="rId63"/>
    <p:sldId id="299" r:id="rId64"/>
    <p:sldId id="366" r:id="rId65"/>
    <p:sldId id="300" r:id="rId66"/>
    <p:sldId id="301" r:id="rId67"/>
    <p:sldId id="265" r:id="rId68"/>
    <p:sldId id="302" r:id="rId69"/>
    <p:sldId id="376" r:id="rId70"/>
    <p:sldId id="356" r:id="rId71"/>
    <p:sldId id="303" r:id="rId72"/>
    <p:sldId id="304" r:id="rId73"/>
    <p:sldId id="372" r:id="rId74"/>
    <p:sldId id="306" r:id="rId75"/>
    <p:sldId id="357" r:id="rId76"/>
    <p:sldId id="307" r:id="rId77"/>
    <p:sldId id="358" r:id="rId78"/>
    <p:sldId id="308" r:id="rId79"/>
    <p:sldId id="310" r:id="rId80"/>
    <p:sldId id="309" r:id="rId81"/>
    <p:sldId id="359" r:id="rId82"/>
    <p:sldId id="312" r:id="rId83"/>
    <p:sldId id="313" r:id="rId84"/>
    <p:sldId id="314" r:id="rId85"/>
    <p:sldId id="315" r:id="rId86"/>
    <p:sldId id="316" r:id="rId87"/>
    <p:sldId id="317" r:id="rId88"/>
    <p:sldId id="318" r:id="rId89"/>
    <p:sldId id="319" r:id="rId90"/>
    <p:sldId id="320" r:id="rId91"/>
    <p:sldId id="360" r:id="rId92"/>
    <p:sldId id="350" r:id="rId93"/>
    <p:sldId id="351" r:id="rId94"/>
    <p:sldId id="361" r:id="rId95"/>
    <p:sldId id="268" r:id="rId96"/>
    <p:sldId id="352" r:id="rId97"/>
    <p:sldId id="272" r:id="rId98"/>
    <p:sldId id="271" r:id="rId99"/>
    <p:sldId id="362" r:id="rId100"/>
    <p:sldId id="377" r:id="rId101"/>
    <p:sldId id="378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C5237D1E-70C2-D04D-A9CE-4A754051FCDA}">
          <p14:sldIdLst>
            <p14:sldId id="257"/>
            <p14:sldId id="258"/>
          </p14:sldIdLst>
        </p14:section>
        <p14:section name="Introduction" id="{45B60B14-84BC-824B-8803-5BA81691448D}">
          <p14:sldIdLst>
            <p14:sldId id="259"/>
            <p14:sldId id="269"/>
          </p14:sldIdLst>
        </p14:section>
        <p14:section name="Programming Foundations" id="{4FB4676B-07EB-5446-8E53-753B0F866540}">
          <p14:sldIdLst>
            <p14:sldId id="329"/>
            <p14:sldId id="331"/>
            <p14:sldId id="275"/>
            <p14:sldId id="277"/>
            <p14:sldId id="333"/>
            <p14:sldId id="278"/>
            <p14:sldId id="334"/>
            <p14:sldId id="276"/>
            <p14:sldId id="353"/>
            <p14:sldId id="335"/>
          </p14:sldIdLst>
        </p14:section>
        <p14:section name="R Data Foundations" id="{ACADAFC2-75B9-EC4A-A88B-DEA612C68D52}">
          <p14:sldIdLst>
            <p14:sldId id="260"/>
            <p14:sldId id="279"/>
            <p14:sldId id="281"/>
            <p14:sldId id="282"/>
            <p14:sldId id="283"/>
            <p14:sldId id="345"/>
            <p14:sldId id="285"/>
            <p14:sldId id="346"/>
            <p14:sldId id="284"/>
            <p14:sldId id="286"/>
            <p14:sldId id="343"/>
            <p14:sldId id="347"/>
          </p14:sldIdLst>
        </p14:section>
        <p14:section name="R Programming Foundations" id="{3393D14F-FF75-9546-AC6D-CFEC6E3A2F71}">
          <p14:sldIdLst>
            <p14:sldId id="336"/>
            <p14:sldId id="342"/>
            <p14:sldId id="287"/>
            <p14:sldId id="337"/>
            <p14:sldId id="348"/>
            <p14:sldId id="338"/>
            <p14:sldId id="354"/>
            <p14:sldId id="349"/>
            <p14:sldId id="339"/>
            <p14:sldId id="355"/>
            <p14:sldId id="340"/>
          </p14:sldIdLst>
        </p14:section>
        <p14:section name="RStudio" id="{8D2B76AD-261E-EF41-9CBB-5B2931964248}">
          <p14:sldIdLst>
            <p14:sldId id="261"/>
            <p14:sldId id="373"/>
            <p14:sldId id="289"/>
            <p14:sldId id="365"/>
            <p14:sldId id="374"/>
            <p14:sldId id="364"/>
            <p14:sldId id="367"/>
          </p14:sldIdLst>
        </p14:section>
        <p14:section name="Data Flow" id="{5BECD8C6-9445-9945-9169-B019AEB3E98B}">
          <p14:sldIdLst>
            <p14:sldId id="263"/>
            <p14:sldId id="292"/>
            <p14:sldId id="363"/>
            <p14:sldId id="295"/>
            <p14:sldId id="369"/>
            <p14:sldId id="370"/>
            <p14:sldId id="298"/>
            <p14:sldId id="368"/>
            <p14:sldId id="294"/>
            <p14:sldId id="293"/>
            <p14:sldId id="344"/>
            <p14:sldId id="375"/>
            <p14:sldId id="296"/>
            <p14:sldId id="371"/>
          </p14:sldIdLst>
        </p14:section>
        <p14:section name="Explore" id="{00C93BB8-2589-9241-BAAA-2FA4CD154951}">
          <p14:sldIdLst>
            <p14:sldId id="264"/>
            <p14:sldId id="299"/>
            <p14:sldId id="366"/>
            <p14:sldId id="300"/>
            <p14:sldId id="301"/>
          </p14:sldIdLst>
        </p14:section>
        <p14:section name="Wrangle" id="{D4004BB6-3D1B-1044-AF5F-DB0116CB7D8A}">
          <p14:sldIdLst>
            <p14:sldId id="265"/>
            <p14:sldId id="302"/>
            <p14:sldId id="376"/>
            <p14:sldId id="356"/>
            <p14:sldId id="303"/>
            <p14:sldId id="304"/>
            <p14:sldId id="372"/>
            <p14:sldId id="306"/>
            <p14:sldId id="357"/>
            <p14:sldId id="307"/>
            <p14:sldId id="358"/>
            <p14:sldId id="308"/>
            <p14:sldId id="310"/>
            <p14:sldId id="309"/>
            <p14:sldId id="359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General Closing" id="{5D4E27CD-2F53-AF43-B51F-14A32104B593}">
          <p14:sldIdLst>
            <p14:sldId id="320"/>
            <p14:sldId id="360"/>
            <p14:sldId id="350"/>
            <p14:sldId id="351"/>
            <p14:sldId id="361"/>
          </p14:sldIdLst>
        </p14:section>
        <p14:section name="Review" id="{8CD40EB6-1EED-6542-9F9D-E00C87B7A797}">
          <p14:sldIdLst>
            <p14:sldId id="268"/>
            <p14:sldId id="352"/>
            <p14:sldId id="272"/>
            <p14:sldId id="271"/>
            <p14:sldId id="362"/>
            <p14:sldId id="377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ssell McCreath" initials="RM" lastIdx="1" clrIdx="0">
    <p:extLst>
      <p:ext uri="{19B8F6BF-5375-455C-9EA6-DF929625EA0E}">
        <p15:presenceInfo xmlns:p15="http://schemas.microsoft.com/office/powerpoint/2012/main" userId="f8c953ea499d08ec" providerId="Windows Live"/>
      </p:ext>
    </p:extLst>
  </p:cmAuthor>
  <p:cmAuthor id="2" name="Lynne Morton" initials="LM" lastIdx="1" clrIdx="1">
    <p:extLst>
      <p:ext uri="{19B8F6BF-5375-455C-9EA6-DF929625EA0E}">
        <p15:presenceInfo xmlns:p15="http://schemas.microsoft.com/office/powerpoint/2012/main" userId="S::lynne.morton@phs.scot::88731483-bce7-4197-b75f-5c31e0410d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3583"/>
    <a:srgbClr val="9B4392"/>
    <a:srgbClr val="95C01D"/>
    <a:srgbClr val="029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25412-07A0-D8B9-1DEF-3EB02FBCBA42}" v="1" dt="2024-05-02T14:39:02.762"/>
    <p1510:client id="{7E8F3E37-975F-435E-9FF5-9E2BB5231772}" v="377" dt="2024-05-02T13:26:08.561"/>
    <p1510:client id="{F7211B4A-75FB-C863-4E1D-F08BAA2BE4CA}" v="277" dt="2024-05-01T15:53:09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heme" Target="theme/theme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microsoft.com/office/2016/11/relationships/changesInfo" Target="changesInfos/changesInfo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e Morton" userId="S::lynne.morton@phs.scot::88731483-bce7-4197-b75f-5c31e0410d56" providerId="AD" clId="Web-{7A425412-07A0-D8B9-1DEF-3EB02FBCBA42}"/>
    <pc:docChg chg="sldOrd">
      <pc:chgData name="Lynne Morton" userId="S::lynne.morton@phs.scot::88731483-bce7-4197-b75f-5c31e0410d56" providerId="AD" clId="Web-{7A425412-07A0-D8B9-1DEF-3EB02FBCBA42}" dt="2024-05-02T14:39:02.762" v="0"/>
      <pc:docMkLst>
        <pc:docMk/>
      </pc:docMkLst>
      <pc:sldChg chg="ord">
        <pc:chgData name="Lynne Morton" userId="S::lynne.morton@phs.scot::88731483-bce7-4197-b75f-5c31e0410d56" providerId="AD" clId="Web-{7A425412-07A0-D8B9-1DEF-3EB02FBCBA42}" dt="2024-05-02T14:39:02.762" v="0"/>
        <pc:sldMkLst>
          <pc:docMk/>
          <pc:sldMk cId="3217658232" sldId="300"/>
        </pc:sldMkLst>
      </pc:sldChg>
    </pc:docChg>
  </pc:docChgLst>
  <pc:docChgLst>
    <pc:chgData name="Lynne Morton" userId="S::lynne.morton@phs.scot::88731483-bce7-4197-b75f-5c31e0410d56" providerId="AD" clId="Web-{F7211B4A-75FB-C863-4E1D-F08BAA2BE4CA}"/>
    <pc:docChg chg="modSld sldOrd">
      <pc:chgData name="Lynne Morton" userId="S::lynne.morton@phs.scot::88731483-bce7-4197-b75f-5c31e0410d56" providerId="AD" clId="Web-{F7211B4A-75FB-C863-4E1D-F08BAA2BE4CA}" dt="2024-05-01T15:53:06.925" v="291" actId="20577"/>
      <pc:docMkLst>
        <pc:docMk/>
      </pc:docMkLst>
      <pc:sldChg chg="addCm">
        <pc:chgData name="Lynne Morton" userId="S::lynne.morton@phs.scot::88731483-bce7-4197-b75f-5c31e0410d56" providerId="AD" clId="Web-{F7211B4A-75FB-C863-4E1D-F08BAA2BE4CA}" dt="2024-05-01T14:49:52.683" v="1"/>
        <pc:sldMkLst>
          <pc:docMk/>
          <pc:sldMk cId="348835469" sldId="304"/>
        </pc:sldMkLst>
      </pc:sldChg>
      <pc:sldChg chg="ord">
        <pc:chgData name="Lynne Morton" userId="S::lynne.morton@phs.scot::88731483-bce7-4197-b75f-5c31e0410d56" providerId="AD" clId="Web-{F7211B4A-75FB-C863-4E1D-F08BAA2BE4CA}" dt="2024-05-01T13:44:55.764" v="0"/>
        <pc:sldMkLst>
          <pc:docMk/>
          <pc:sldMk cId="2503639105" sldId="343"/>
        </pc:sldMkLst>
      </pc:sldChg>
      <pc:sldChg chg="modSp">
        <pc:chgData name="Lynne Morton" userId="S::lynne.morton@phs.scot::88731483-bce7-4197-b75f-5c31e0410d56" providerId="AD" clId="Web-{F7211B4A-75FB-C863-4E1D-F08BAA2BE4CA}" dt="2024-05-01T15:53:06.925" v="291" actId="20577"/>
        <pc:sldMkLst>
          <pc:docMk/>
          <pc:sldMk cId="1065119605" sldId="375"/>
        </pc:sldMkLst>
        <pc:spChg chg="mod">
          <ac:chgData name="Lynne Morton" userId="S::lynne.morton@phs.scot::88731483-bce7-4197-b75f-5c31e0410d56" providerId="AD" clId="Web-{F7211B4A-75FB-C863-4E1D-F08BAA2BE4CA}" dt="2024-05-01T15:53:06.925" v="291" actId="20577"/>
          <ac:spMkLst>
            <pc:docMk/>
            <pc:sldMk cId="1065119605" sldId="375"/>
            <ac:spMk id="3" creationId="{52864A5B-2017-8148-A9E9-C495DA22C9C4}"/>
          </ac:spMkLst>
        </pc:spChg>
        <pc:spChg chg="mod">
          <ac:chgData name="Lynne Morton" userId="S::lynne.morton@phs.scot::88731483-bce7-4197-b75f-5c31e0410d56" providerId="AD" clId="Web-{F7211B4A-75FB-C863-4E1D-F08BAA2BE4CA}" dt="2024-05-01T15:52:22.236" v="288" actId="14100"/>
          <ac:spMkLst>
            <pc:docMk/>
            <pc:sldMk cId="1065119605" sldId="375"/>
            <ac:spMk id="5" creationId="{E67B70DB-9942-FD4B-91A7-AB4D6E13F7F2}"/>
          </ac:spMkLst>
        </pc:spChg>
      </pc:sldChg>
    </pc:docChg>
  </pc:docChgLst>
  <pc:docChgLst>
    <pc:chgData name="Polly Russell" userId="89916101-baaf-4cdb-a2cb-6e3c97398430" providerId="ADAL" clId="{7E8F3E37-975F-435E-9FF5-9E2BB5231772}"/>
    <pc:docChg chg="undo custSel addSld modSld sldOrd modSection">
      <pc:chgData name="Polly Russell" userId="89916101-baaf-4cdb-a2cb-6e3c97398430" providerId="ADAL" clId="{7E8F3E37-975F-435E-9FF5-9E2BB5231772}" dt="2024-05-02T13:26:08.561" v="1605" actId="20577"/>
      <pc:docMkLst>
        <pc:docMk/>
      </pc:docMkLst>
      <pc:sldChg chg="modNotesTx">
        <pc:chgData name="Polly Russell" userId="89916101-baaf-4cdb-a2cb-6e3c97398430" providerId="ADAL" clId="{7E8F3E37-975F-435E-9FF5-9E2BB5231772}" dt="2024-05-01T08:33:19.792" v="3" actId="20577"/>
        <pc:sldMkLst>
          <pc:docMk/>
          <pc:sldMk cId="341530024" sldId="269"/>
        </pc:sldMkLst>
      </pc:sldChg>
      <pc:sldChg chg="modSp mod">
        <pc:chgData name="Polly Russell" userId="89916101-baaf-4cdb-a2cb-6e3c97398430" providerId="ADAL" clId="{7E8F3E37-975F-435E-9FF5-9E2BB5231772}" dt="2024-05-01T09:12:05.501" v="27" actId="403"/>
        <pc:sldMkLst>
          <pc:docMk/>
          <pc:sldMk cId="1086667244" sldId="278"/>
        </pc:sldMkLst>
        <pc:graphicFrameChg chg="mod modGraphic">
          <ac:chgData name="Polly Russell" userId="89916101-baaf-4cdb-a2cb-6e3c97398430" providerId="ADAL" clId="{7E8F3E37-975F-435E-9FF5-9E2BB5231772}" dt="2024-05-01T09:12:05.501" v="27" actId="403"/>
          <ac:graphicFrameMkLst>
            <pc:docMk/>
            <pc:sldMk cId="1086667244" sldId="278"/>
            <ac:graphicFrameMk id="3" creationId="{E5EBE178-4FF2-C343-8AB0-38EBFC68C799}"/>
          </ac:graphicFrameMkLst>
        </pc:graphicFrameChg>
      </pc:sldChg>
      <pc:sldChg chg="modSp mod">
        <pc:chgData name="Polly Russell" userId="89916101-baaf-4cdb-a2cb-6e3c97398430" providerId="ADAL" clId="{7E8F3E37-975F-435E-9FF5-9E2BB5231772}" dt="2024-05-01T11:43:46.739" v="202" actId="1037"/>
        <pc:sldMkLst>
          <pc:docMk/>
          <pc:sldMk cId="3970992979" sldId="281"/>
        </pc:sldMkLst>
        <pc:spChg chg="mod">
          <ac:chgData name="Polly Russell" userId="89916101-baaf-4cdb-a2cb-6e3c97398430" providerId="ADAL" clId="{7E8F3E37-975F-435E-9FF5-9E2BB5231772}" dt="2024-05-01T11:43:46.739" v="202" actId="1037"/>
          <ac:spMkLst>
            <pc:docMk/>
            <pc:sldMk cId="3970992979" sldId="281"/>
            <ac:spMk id="3" creationId="{0882B04C-1C77-2D4D-A505-5DEAECF56977}"/>
          </ac:spMkLst>
        </pc:spChg>
        <pc:picChg chg="mod modCrop">
          <ac:chgData name="Polly Russell" userId="89916101-baaf-4cdb-a2cb-6e3c97398430" providerId="ADAL" clId="{7E8F3E37-975F-435E-9FF5-9E2BB5231772}" dt="2024-05-01T11:43:03.177" v="175" actId="1076"/>
          <ac:picMkLst>
            <pc:docMk/>
            <pc:sldMk cId="3970992979" sldId="281"/>
            <ac:picMk id="9" creationId="{E616D1FA-0D8E-4FB0-D098-208A3748B834}"/>
          </ac:picMkLst>
        </pc:picChg>
        <pc:picChg chg="mod">
          <ac:chgData name="Polly Russell" userId="89916101-baaf-4cdb-a2cb-6e3c97398430" providerId="ADAL" clId="{7E8F3E37-975F-435E-9FF5-9E2BB5231772}" dt="2024-05-01T11:43:37.083" v="192" actId="1037"/>
          <ac:picMkLst>
            <pc:docMk/>
            <pc:sldMk cId="3970992979" sldId="281"/>
            <ac:picMk id="11" creationId="{6EE4AB2E-C7C8-D950-4651-4EEA5BF9DB2D}"/>
          </ac:picMkLst>
        </pc:picChg>
      </pc:sldChg>
      <pc:sldChg chg="modSp mod">
        <pc:chgData name="Polly Russell" userId="89916101-baaf-4cdb-a2cb-6e3c97398430" providerId="ADAL" clId="{7E8F3E37-975F-435E-9FF5-9E2BB5231772}" dt="2024-05-01T14:07:19.505" v="212" actId="1076"/>
        <pc:sldMkLst>
          <pc:docMk/>
          <pc:sldMk cId="2267682388" sldId="286"/>
        </pc:sldMkLst>
        <pc:spChg chg="mod">
          <ac:chgData name="Polly Russell" userId="89916101-baaf-4cdb-a2cb-6e3c97398430" providerId="ADAL" clId="{7E8F3E37-975F-435E-9FF5-9E2BB5231772}" dt="2024-05-01T14:07:09.720" v="210" actId="27636"/>
          <ac:spMkLst>
            <pc:docMk/>
            <pc:sldMk cId="2267682388" sldId="286"/>
            <ac:spMk id="3" creationId="{0882B04C-1C77-2D4D-A505-5DEAECF56977}"/>
          </ac:spMkLst>
        </pc:spChg>
        <pc:picChg chg="mod">
          <ac:chgData name="Polly Russell" userId="89916101-baaf-4cdb-a2cb-6e3c97398430" providerId="ADAL" clId="{7E8F3E37-975F-435E-9FF5-9E2BB5231772}" dt="2024-05-01T14:07:19.505" v="212" actId="1076"/>
          <ac:picMkLst>
            <pc:docMk/>
            <pc:sldMk cId="2267682388" sldId="286"/>
            <ac:picMk id="9" creationId="{586AA319-BA79-0392-0413-698AABF94F59}"/>
          </ac:picMkLst>
        </pc:picChg>
      </pc:sldChg>
      <pc:sldChg chg="modNotesTx">
        <pc:chgData name="Polly Russell" userId="89916101-baaf-4cdb-a2cb-6e3c97398430" providerId="ADAL" clId="{7E8F3E37-975F-435E-9FF5-9E2BB5231772}" dt="2024-05-01T15:07:02.602" v="244"/>
        <pc:sldMkLst>
          <pc:docMk/>
          <pc:sldMk cId="2284182626" sldId="298"/>
        </pc:sldMkLst>
      </pc:sldChg>
      <pc:sldChg chg="addSp delSp modSp mod">
        <pc:chgData name="Polly Russell" userId="89916101-baaf-4cdb-a2cb-6e3c97398430" providerId="ADAL" clId="{7E8F3E37-975F-435E-9FF5-9E2BB5231772}" dt="2024-05-02T09:10:17.218" v="657" actId="1076"/>
        <pc:sldMkLst>
          <pc:docMk/>
          <pc:sldMk cId="922477520" sldId="302"/>
        </pc:sldMkLst>
        <pc:spChg chg="add del mod">
          <ac:chgData name="Polly Russell" userId="89916101-baaf-4cdb-a2cb-6e3c97398430" providerId="ADAL" clId="{7E8F3E37-975F-435E-9FF5-9E2BB5231772}" dt="2024-05-02T09:10:14.431" v="656" actId="478"/>
          <ac:spMkLst>
            <pc:docMk/>
            <pc:sldMk cId="922477520" sldId="302"/>
            <ac:spMk id="3" creationId="{C30C8340-97C6-5FF4-278F-1C3C98054EE6}"/>
          </ac:spMkLst>
        </pc:spChg>
        <pc:spChg chg="add mod">
          <ac:chgData name="Polly Russell" userId="89916101-baaf-4cdb-a2cb-6e3c97398430" providerId="ADAL" clId="{7E8F3E37-975F-435E-9FF5-9E2BB5231772}" dt="2024-05-02T09:10:14.431" v="656" actId="478"/>
          <ac:spMkLst>
            <pc:docMk/>
            <pc:sldMk cId="922477520" sldId="302"/>
            <ac:spMk id="5" creationId="{92B3AF8E-0BFD-5529-D6B8-6BF4BDF44025}"/>
          </ac:spMkLst>
        </pc:spChg>
        <pc:picChg chg="mod ord">
          <ac:chgData name="Polly Russell" userId="89916101-baaf-4cdb-a2cb-6e3c97398430" providerId="ADAL" clId="{7E8F3E37-975F-435E-9FF5-9E2BB5231772}" dt="2024-05-02T09:10:17.218" v="657" actId="1076"/>
          <ac:picMkLst>
            <pc:docMk/>
            <pc:sldMk cId="922477520" sldId="302"/>
            <ac:picMk id="10" creationId="{712F2F72-C023-2B4C-887E-C83811C37E29}"/>
          </ac:picMkLst>
        </pc:picChg>
      </pc:sldChg>
      <pc:sldChg chg="modSp mod delCm">
        <pc:chgData name="Polly Russell" userId="89916101-baaf-4cdb-a2cb-6e3c97398430" providerId="ADAL" clId="{7E8F3E37-975F-435E-9FF5-9E2BB5231772}" dt="2024-05-02T09:33:49.304" v="726" actId="27636"/>
        <pc:sldMkLst>
          <pc:docMk/>
          <pc:sldMk cId="348835469" sldId="304"/>
        </pc:sldMkLst>
        <pc:spChg chg="mod">
          <ac:chgData name="Polly Russell" userId="89916101-baaf-4cdb-a2cb-6e3c97398430" providerId="ADAL" clId="{7E8F3E37-975F-435E-9FF5-9E2BB5231772}" dt="2024-05-01T15:12:07.566" v="438" actId="20577"/>
          <ac:spMkLst>
            <pc:docMk/>
            <pc:sldMk cId="348835469" sldId="304"/>
            <ac:spMk id="3" creationId="{DC745D06-06F5-054A-8D61-E463A90B2839}"/>
          </ac:spMkLst>
        </pc:spChg>
        <pc:spChg chg="mod">
          <ac:chgData name="Polly Russell" userId="89916101-baaf-4cdb-a2cb-6e3c97398430" providerId="ADAL" clId="{7E8F3E37-975F-435E-9FF5-9E2BB5231772}" dt="2024-05-02T09:33:44.654" v="724" actId="403"/>
          <ac:spMkLst>
            <pc:docMk/>
            <pc:sldMk cId="348835469" sldId="304"/>
            <ac:spMk id="5" creationId="{69C76A24-AF5D-A142-B4F2-04BEDF664D34}"/>
          </ac:spMkLst>
        </pc:spChg>
        <pc:spChg chg="mod">
          <ac:chgData name="Polly Russell" userId="89916101-baaf-4cdb-a2cb-6e3c97398430" providerId="ADAL" clId="{7E8F3E37-975F-435E-9FF5-9E2BB5231772}" dt="2024-05-02T09:33:49.304" v="726" actId="27636"/>
          <ac:spMkLst>
            <pc:docMk/>
            <pc:sldMk cId="348835469" sldId="304"/>
            <ac:spMk id="6" creationId="{1E44AB9B-AD95-3346-8312-DECE91369F0E}"/>
          </ac:spMkLst>
        </pc:spChg>
      </pc:sldChg>
      <pc:sldChg chg="modSp mod">
        <pc:chgData name="Polly Russell" userId="89916101-baaf-4cdb-a2cb-6e3c97398430" providerId="ADAL" clId="{7E8F3E37-975F-435E-9FF5-9E2BB5231772}" dt="2024-05-01T09:04:30.205" v="8" actId="20577"/>
        <pc:sldMkLst>
          <pc:docMk/>
          <pc:sldMk cId="2564747236" sldId="333"/>
        </pc:sldMkLst>
        <pc:spChg chg="mod">
          <ac:chgData name="Polly Russell" userId="89916101-baaf-4cdb-a2cb-6e3c97398430" providerId="ADAL" clId="{7E8F3E37-975F-435E-9FF5-9E2BB5231772}" dt="2024-05-01T09:04:30.205" v="8" actId="20577"/>
          <ac:spMkLst>
            <pc:docMk/>
            <pc:sldMk cId="2564747236" sldId="333"/>
            <ac:spMk id="3" creationId="{8DD98E96-989C-D84A-AF1E-7EA2FA478578}"/>
          </ac:spMkLst>
        </pc:spChg>
      </pc:sldChg>
      <pc:sldChg chg="modSp mod modNotesTx">
        <pc:chgData name="Polly Russell" userId="89916101-baaf-4cdb-a2cb-6e3c97398430" providerId="ADAL" clId="{7E8F3E37-975F-435E-9FF5-9E2BB5231772}" dt="2024-05-01T09:40:15.577" v="169" actId="20577"/>
        <pc:sldMkLst>
          <pc:docMk/>
          <pc:sldMk cId="1200548160" sldId="335"/>
        </pc:sldMkLst>
        <pc:spChg chg="mod">
          <ac:chgData name="Polly Russell" userId="89916101-baaf-4cdb-a2cb-6e3c97398430" providerId="ADAL" clId="{7E8F3E37-975F-435E-9FF5-9E2BB5231772}" dt="2024-05-01T09:40:15.577" v="169" actId="20577"/>
          <ac:spMkLst>
            <pc:docMk/>
            <pc:sldMk cId="1200548160" sldId="335"/>
            <ac:spMk id="3" creationId="{8DD98E96-989C-D84A-AF1E-7EA2FA478578}"/>
          </ac:spMkLst>
        </pc:spChg>
      </pc:sldChg>
      <pc:sldChg chg="modSp mod">
        <pc:chgData name="Polly Russell" userId="89916101-baaf-4cdb-a2cb-6e3c97398430" providerId="ADAL" clId="{7E8F3E37-975F-435E-9FF5-9E2BB5231772}" dt="2024-05-01T14:09:06.589" v="232" actId="14100"/>
        <pc:sldMkLst>
          <pc:docMk/>
          <pc:sldMk cId="2503639105" sldId="343"/>
        </pc:sldMkLst>
        <pc:spChg chg="mod">
          <ac:chgData name="Polly Russell" userId="89916101-baaf-4cdb-a2cb-6e3c97398430" providerId="ADAL" clId="{7E8F3E37-975F-435E-9FF5-9E2BB5231772}" dt="2024-05-01T14:09:06.589" v="232" actId="14100"/>
          <ac:spMkLst>
            <pc:docMk/>
            <pc:sldMk cId="2503639105" sldId="343"/>
            <ac:spMk id="3" creationId="{0882B04C-1C77-2D4D-A505-5DEAECF56977}"/>
          </ac:spMkLst>
        </pc:spChg>
      </pc:sldChg>
      <pc:sldChg chg="modSp mod">
        <pc:chgData name="Polly Russell" userId="89916101-baaf-4cdb-a2cb-6e3c97398430" providerId="ADAL" clId="{7E8F3E37-975F-435E-9FF5-9E2BB5231772}" dt="2024-05-02T13:26:08.561" v="1605" actId="20577"/>
        <pc:sldMkLst>
          <pc:docMk/>
          <pc:sldMk cId="3023370362" sldId="347"/>
        </pc:sldMkLst>
        <pc:spChg chg="mod">
          <ac:chgData name="Polly Russell" userId="89916101-baaf-4cdb-a2cb-6e3c97398430" providerId="ADAL" clId="{7E8F3E37-975F-435E-9FF5-9E2BB5231772}" dt="2024-05-02T13:26:08.561" v="1605" actId="20577"/>
          <ac:spMkLst>
            <pc:docMk/>
            <pc:sldMk cId="3023370362" sldId="347"/>
            <ac:spMk id="3" creationId="{96F6A68C-5CDD-FF4C-9C67-3A2104C7BC91}"/>
          </ac:spMkLst>
        </pc:spChg>
      </pc:sldChg>
      <pc:sldChg chg="ord">
        <pc:chgData name="Polly Russell" userId="89916101-baaf-4cdb-a2cb-6e3c97398430" providerId="ADAL" clId="{7E8F3E37-975F-435E-9FF5-9E2BB5231772}" dt="2024-05-01T09:41:10.027" v="171"/>
        <pc:sldMkLst>
          <pc:docMk/>
          <pc:sldMk cId="2052887947" sldId="353"/>
        </pc:sldMkLst>
      </pc:sldChg>
      <pc:sldChg chg="modSp mod">
        <pc:chgData name="Polly Russell" userId="89916101-baaf-4cdb-a2cb-6e3c97398430" providerId="ADAL" clId="{7E8F3E37-975F-435E-9FF5-9E2BB5231772}" dt="2024-05-01T14:35:34.685" v="233" actId="313"/>
        <pc:sldMkLst>
          <pc:docMk/>
          <pc:sldMk cId="2556824386" sldId="365"/>
        </pc:sldMkLst>
        <pc:spChg chg="mod">
          <ac:chgData name="Polly Russell" userId="89916101-baaf-4cdb-a2cb-6e3c97398430" providerId="ADAL" clId="{7E8F3E37-975F-435E-9FF5-9E2BB5231772}" dt="2024-05-01T14:35:34.685" v="233" actId="313"/>
          <ac:spMkLst>
            <pc:docMk/>
            <pc:sldMk cId="2556824386" sldId="365"/>
            <ac:spMk id="3" creationId="{8DD98E96-989C-D84A-AF1E-7EA2FA478578}"/>
          </ac:spMkLst>
        </pc:spChg>
      </pc:sldChg>
      <pc:sldChg chg="modSp mod">
        <pc:chgData name="Polly Russell" userId="89916101-baaf-4cdb-a2cb-6e3c97398430" providerId="ADAL" clId="{7E8F3E37-975F-435E-9FF5-9E2BB5231772}" dt="2024-05-02T09:35:57.503" v="733" actId="20577"/>
        <pc:sldMkLst>
          <pc:docMk/>
          <pc:sldMk cId="2463405776" sldId="372"/>
        </pc:sldMkLst>
        <pc:spChg chg="mod">
          <ac:chgData name="Polly Russell" userId="89916101-baaf-4cdb-a2cb-6e3c97398430" providerId="ADAL" clId="{7E8F3E37-975F-435E-9FF5-9E2BB5231772}" dt="2024-05-02T09:35:57.503" v="733" actId="20577"/>
          <ac:spMkLst>
            <pc:docMk/>
            <pc:sldMk cId="2463405776" sldId="372"/>
            <ac:spMk id="6" creationId="{1E44AB9B-AD95-3346-8312-DECE91369F0E}"/>
          </ac:spMkLst>
        </pc:spChg>
      </pc:sldChg>
      <pc:sldChg chg="modSp mod">
        <pc:chgData name="Polly Russell" userId="89916101-baaf-4cdb-a2cb-6e3c97398430" providerId="ADAL" clId="{7E8F3E37-975F-435E-9FF5-9E2BB5231772}" dt="2024-05-01T14:37:11.148" v="241" actId="14100"/>
        <pc:sldMkLst>
          <pc:docMk/>
          <pc:sldMk cId="673859564" sldId="374"/>
        </pc:sldMkLst>
        <pc:spChg chg="mod">
          <ac:chgData name="Polly Russell" userId="89916101-baaf-4cdb-a2cb-6e3c97398430" providerId="ADAL" clId="{7E8F3E37-975F-435E-9FF5-9E2BB5231772}" dt="2024-05-01T14:37:11.148" v="241" actId="14100"/>
          <ac:spMkLst>
            <pc:docMk/>
            <pc:sldMk cId="673859564" sldId="374"/>
            <ac:spMk id="3" creationId="{8DD98E96-989C-D84A-AF1E-7EA2FA478578}"/>
          </ac:spMkLst>
        </pc:spChg>
        <pc:picChg chg="mod">
          <ac:chgData name="Polly Russell" userId="89916101-baaf-4cdb-a2cb-6e3c97398430" providerId="ADAL" clId="{7E8F3E37-975F-435E-9FF5-9E2BB5231772}" dt="2024-05-01T14:36:53.482" v="236" actId="1076"/>
          <ac:picMkLst>
            <pc:docMk/>
            <pc:sldMk cId="673859564" sldId="374"/>
            <ac:picMk id="4" creationId="{408AC7B6-0059-7945-BB7B-6703E8CF9CE5}"/>
          </ac:picMkLst>
        </pc:picChg>
      </pc:sldChg>
      <pc:sldChg chg="modSp add mod">
        <pc:chgData name="Polly Russell" userId="89916101-baaf-4cdb-a2cb-6e3c97398430" providerId="ADAL" clId="{7E8F3E37-975F-435E-9FF5-9E2BB5231772}" dt="2024-05-01T15:28:33.366" v="531" actId="20577"/>
        <pc:sldMkLst>
          <pc:docMk/>
          <pc:sldMk cId="1065119605" sldId="375"/>
        </pc:sldMkLst>
        <pc:spChg chg="mod">
          <ac:chgData name="Polly Russell" userId="89916101-baaf-4cdb-a2cb-6e3c97398430" providerId="ADAL" clId="{7E8F3E37-975F-435E-9FF5-9E2BB5231772}" dt="2024-05-01T15:25:50.093" v="486" actId="20577"/>
          <ac:spMkLst>
            <pc:docMk/>
            <pc:sldMk cId="1065119605" sldId="375"/>
            <ac:spMk id="2" creationId="{0176259D-CA96-904C-A206-628024AEC39B}"/>
          </ac:spMkLst>
        </pc:spChg>
        <pc:spChg chg="mod">
          <ac:chgData name="Polly Russell" userId="89916101-baaf-4cdb-a2cb-6e3c97398430" providerId="ADAL" clId="{7E8F3E37-975F-435E-9FF5-9E2BB5231772}" dt="2024-05-01T15:28:33.366" v="531" actId="20577"/>
          <ac:spMkLst>
            <pc:docMk/>
            <pc:sldMk cId="1065119605" sldId="375"/>
            <ac:spMk id="3" creationId="{52864A5B-2017-8148-A9E9-C495DA22C9C4}"/>
          </ac:spMkLst>
        </pc:spChg>
      </pc:sldChg>
      <pc:sldChg chg="addSp delSp modSp add mod modAnim">
        <pc:chgData name="Polly Russell" userId="89916101-baaf-4cdb-a2cb-6e3c97398430" providerId="ADAL" clId="{7E8F3E37-975F-435E-9FF5-9E2BB5231772}" dt="2024-05-02T08:45:33.114" v="655" actId="403"/>
        <pc:sldMkLst>
          <pc:docMk/>
          <pc:sldMk cId="3798698531" sldId="376"/>
        </pc:sldMkLst>
        <pc:spChg chg="mod">
          <ac:chgData name="Polly Russell" userId="89916101-baaf-4cdb-a2cb-6e3c97398430" providerId="ADAL" clId="{7E8F3E37-975F-435E-9FF5-9E2BB5231772}" dt="2024-05-02T08:43:02.815" v="602" actId="1076"/>
          <ac:spMkLst>
            <pc:docMk/>
            <pc:sldMk cId="3798698531" sldId="376"/>
            <ac:spMk id="3" creationId="{C30C8340-97C6-5FF4-278F-1C3C98054EE6}"/>
          </ac:spMkLst>
        </pc:spChg>
        <pc:spChg chg="add del mod">
          <ac:chgData name="Polly Russell" userId="89916101-baaf-4cdb-a2cb-6e3c97398430" providerId="ADAL" clId="{7E8F3E37-975F-435E-9FF5-9E2BB5231772}" dt="2024-05-02T08:44:18.845" v="635" actId="478"/>
          <ac:spMkLst>
            <pc:docMk/>
            <pc:sldMk cId="3798698531" sldId="376"/>
            <ac:spMk id="4" creationId="{6F2F3E2B-1756-46B9-DE7F-7D11724367ED}"/>
          </ac:spMkLst>
        </pc:spChg>
        <pc:spChg chg="add mod">
          <ac:chgData name="Polly Russell" userId="89916101-baaf-4cdb-a2cb-6e3c97398430" providerId="ADAL" clId="{7E8F3E37-975F-435E-9FF5-9E2BB5231772}" dt="2024-05-02T08:45:33.114" v="655" actId="403"/>
          <ac:spMkLst>
            <pc:docMk/>
            <pc:sldMk cId="3798698531" sldId="376"/>
            <ac:spMk id="5" creationId="{AE92F63B-2242-B764-56B9-E3254669B6EC}"/>
          </ac:spMkLst>
        </pc:spChg>
        <pc:picChg chg="del">
          <ac:chgData name="Polly Russell" userId="89916101-baaf-4cdb-a2cb-6e3c97398430" providerId="ADAL" clId="{7E8F3E37-975F-435E-9FF5-9E2BB5231772}" dt="2024-05-02T08:42:54.984" v="595" actId="478"/>
          <ac:picMkLst>
            <pc:docMk/>
            <pc:sldMk cId="3798698531" sldId="376"/>
            <ac:picMk id="10" creationId="{712F2F72-C023-2B4C-887E-C83811C37E29}"/>
          </ac:picMkLst>
        </pc:picChg>
        <pc:picChg chg="add mod">
          <ac:chgData name="Polly Russell" userId="89916101-baaf-4cdb-a2cb-6e3c97398430" providerId="ADAL" clId="{7E8F3E37-975F-435E-9FF5-9E2BB5231772}" dt="2024-05-02T08:44:44.912" v="642" actId="14100"/>
          <ac:picMkLst>
            <pc:docMk/>
            <pc:sldMk cId="3798698531" sldId="376"/>
            <ac:picMk id="1026" creationId="{7B1CFB14-9593-E70D-845C-9A96DB5752AC}"/>
          </ac:picMkLst>
        </pc:picChg>
      </pc:sldChg>
      <pc:sldChg chg="addSp modSp new mod">
        <pc:chgData name="Polly Russell" userId="89916101-baaf-4cdb-a2cb-6e3c97398430" providerId="ADAL" clId="{7E8F3E37-975F-435E-9FF5-9E2BB5231772}" dt="2024-05-02T10:43:00.089" v="1567" actId="33524"/>
        <pc:sldMkLst>
          <pc:docMk/>
          <pc:sldMk cId="1757359803" sldId="377"/>
        </pc:sldMkLst>
        <pc:spChg chg="add mod">
          <ac:chgData name="Polly Russell" userId="89916101-baaf-4cdb-a2cb-6e3c97398430" providerId="ADAL" clId="{7E8F3E37-975F-435E-9FF5-9E2BB5231772}" dt="2024-05-02T10:35:25.231" v="834" actId="20577"/>
          <ac:spMkLst>
            <pc:docMk/>
            <pc:sldMk cId="1757359803" sldId="377"/>
            <ac:spMk id="2" creationId="{3755D2E9-C0D9-671C-0B49-EE05A36B27DE}"/>
          </ac:spMkLst>
        </pc:spChg>
        <pc:spChg chg="add mod">
          <ac:chgData name="Polly Russell" userId="89916101-baaf-4cdb-a2cb-6e3c97398430" providerId="ADAL" clId="{7E8F3E37-975F-435E-9FF5-9E2BB5231772}" dt="2024-05-02T10:43:00.089" v="1567" actId="33524"/>
          <ac:spMkLst>
            <pc:docMk/>
            <pc:sldMk cId="1757359803" sldId="377"/>
            <ac:spMk id="3" creationId="{B04A28DE-1A08-1649-ABED-ECE9AE4919FF}"/>
          </ac:spMkLst>
        </pc:spChg>
      </pc:sldChg>
      <pc:sldChg chg="add">
        <pc:chgData name="Polly Russell" userId="89916101-baaf-4cdb-a2cb-6e3c97398430" providerId="ADAL" clId="{7E8F3E37-975F-435E-9FF5-9E2BB5231772}" dt="2024-05-02T10:35:21.422" v="831" actId="2890"/>
        <pc:sldMkLst>
          <pc:docMk/>
          <pc:sldMk cId="2422101982" sldId="378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5-20T13:23:19.288" idx="1">
    <p:pos x="10" y="10"/>
    <p:text>This may need to be moved. It introduces a new package, `tibble` but packages (as a concept) haven't been introduced at this point.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ED0C7-6A52-9443-98AE-07B7DF5905A6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0BD4E-B891-3F48-90C3-34533A39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anguages.oup.com/google-dictionary-e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ogle.co.uk/search?sca_esv=2f61a0c390a4d1ff&amp;sxsrf=ACQVn0-QyNMd7T4EQnTWqmxYoPcQA64nqA:1714552038805&amp;q=redistributed&amp;si=AKbGX_rpiB5SI0gaPs4Uz3xaG0X4u3MunlbfXzFlaepYs00h0gQKHWzySJbHaNUMq2Eb2ns1n2zPkv6UqHMFghhI8bFCyLugT0eV86GaUUy-M5qVnLGqagc%3D&amp;expnd=1&amp;sa=X&amp;ved=2ahUKEwjA6OKJhOyFAxUBXEEAHR19AxIQyecJegQIGhAO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mailto:junk@nhs.scot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1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3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5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source – evaluate differences between SPSS and R (integrations, packages, etc.)</a:t>
            </a:r>
          </a:p>
          <a:p>
            <a:endParaRPr lang="en-US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>
                <a:solidFill>
                  <a:srgbClr val="3C404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 from </a:t>
            </a:r>
            <a:r>
              <a:rPr lang="en-GB" sz="1800" kern="10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Oxford Languages</a:t>
            </a:r>
            <a:r>
              <a:rPr lang="en-GB" sz="1800" kern="100">
                <a:solidFill>
                  <a:srgbClr val="3C404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open-source</a:t>
            </a:r>
            <a:r>
              <a:rPr lang="en-GB" sz="1800" kern="100">
                <a:solidFill>
                  <a:srgbClr val="3C404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i="1" kern="100" err="1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adjective</a:t>
            </a:r>
            <a:r>
              <a:rPr lang="en-GB" sz="1800" kern="100" cap="all" spc="25" err="1"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endParaRPr lang="en-GB" sz="1800" kern="100">
              <a:solidFill>
                <a:srgbClr val="4472C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denoting software for which the original source code is made freely available and may be </a:t>
            </a:r>
            <a:r>
              <a:rPr lang="en-GB" sz="1800" u="sng" kern="10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redistributed</a:t>
            </a:r>
            <a:r>
              <a:rPr lang="en-GB" sz="18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and modified.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Benefits: anyone can edit, modify, fix, provide help, add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93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59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Character – can be written between single or double quotes, include text, numbers, and symbols. It may be necessary to ‘cast’ a number to be a character to protect formatting, e.g. CHI numbers. Also, remember that characters are case sensitive, this is common across programming (“R” != “r”).</a:t>
            </a:r>
          </a:p>
          <a:p>
            <a:r>
              <a:rPr lang="en-US"/>
              <a:t>Numeric – this stores both real and decimal values. Integer is a subset of the numeric data type.</a:t>
            </a:r>
          </a:p>
          <a:p>
            <a:r>
              <a:rPr lang="en-US"/>
              <a:t>Logical – TRUE/FALSE (or T/F), lowercase variations of the words will result in an error. Under the hood – 0 is FALSE, any other positive integer is TRUE.</a:t>
            </a:r>
          </a:p>
          <a:p>
            <a:r>
              <a:rPr lang="en-US"/>
              <a:t>Complex – for use for complex numbers, e.g. with the imaginary value (</a:t>
            </a:r>
            <a:r>
              <a:rPr lang="en-US" err="1"/>
              <a:t>i</a:t>
            </a:r>
            <a:r>
              <a:rPr lang="en-US"/>
              <a:t>). </a:t>
            </a:r>
          </a:p>
          <a:p>
            <a:endParaRPr lang="en-US"/>
          </a:p>
          <a:p>
            <a:r>
              <a:rPr lang="en-US" err="1"/>
              <a:t>typeof</a:t>
            </a:r>
            <a:r>
              <a:rPr lang="en-US"/>
              <a:t>() is another function that will return the R basic/primitive type of the argument provided.</a:t>
            </a:r>
          </a:p>
          <a:p>
            <a:r>
              <a:rPr lang="en-US" err="1"/>
              <a:t>is.numeric</a:t>
            </a:r>
            <a:r>
              <a:rPr lang="en-US"/>
              <a:t>() (and generally, is.&lt;</a:t>
            </a:r>
            <a:r>
              <a:rPr lang="en-US" err="1"/>
              <a:t>data_type</a:t>
            </a:r>
            <a:r>
              <a:rPr lang="en-US"/>
              <a:t>&gt;()) will return a Boolean value for if the argument provided is that data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09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9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4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9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Variables are containers, the variable name points to a location in memory. Variables can be identifiers for single numbers or whole datasets.</a:t>
            </a:r>
          </a:p>
          <a:p>
            <a:endParaRPr lang="en-US"/>
          </a:p>
          <a:p>
            <a:r>
              <a:rPr lang="en-US"/>
              <a:t>The assignment operator can be read as "is", e.g. the variable `</a:t>
            </a:r>
            <a:r>
              <a:rPr lang="en-US" err="1"/>
              <a:t>hello_world</a:t>
            </a:r>
            <a:r>
              <a:rPr lang="en-US"/>
              <a:t>` is the character string "Hello World". You will use this often. If you feel it helps, a shortcut for getting this is (Win: Alt + -, Mac: Option + -).</a:t>
            </a:r>
          </a:p>
          <a:p>
            <a:endParaRPr lang="en-US"/>
          </a:p>
          <a:p>
            <a:r>
              <a:rPr lang="en-US"/>
              <a:t>"Hello World" is a character (string, characters between quotes, either `’` or `"`). There are 6 basic/primitive data types, we’ll look 4 of them next, character is 1 of the 4.</a:t>
            </a:r>
          </a:p>
          <a:p>
            <a:r>
              <a:rPr lang="en-US"/>
              <a:t>Although, not necessary in this scenario as R will execute the code written and display outputs, print() is a basic example of a function. This function will output to the console what the evaluation of the code is between the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36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Lots of ways to name your function and variables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+mn-lt"/>
                <a:cs typeface="Calibri Light" panose="020F0302020204030204" pitchFamily="34" charset="0"/>
              </a:rPr>
              <a:t>SCREAMING_SNAKE_CASE –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all uppercase words separated by underscores</a:t>
            </a:r>
          </a:p>
          <a:p>
            <a:r>
              <a:rPr lang="en-US" err="1"/>
              <a:t>snake_case</a:t>
            </a:r>
            <a:r>
              <a:rPr lang="en-US"/>
              <a:t> AKA </a:t>
            </a:r>
            <a:r>
              <a:rPr lang="en-US" err="1"/>
              <a:t>lower_snake</a:t>
            </a:r>
            <a:r>
              <a:rPr lang="en-US"/>
              <a:t> – all lowercase words separated by underscores</a:t>
            </a:r>
          </a:p>
          <a:p>
            <a:r>
              <a:rPr lang="en-US"/>
              <a:t>Kebab-case – all lowercase words separated by dashes/ hyphens</a:t>
            </a:r>
          </a:p>
          <a:p>
            <a:r>
              <a:rPr lang="en-US"/>
              <a:t>camelCase – start lowercase then </a:t>
            </a:r>
            <a:r>
              <a:rPr lang="en-US" err="1"/>
              <a:t>capitalise</a:t>
            </a:r>
            <a:r>
              <a:rPr lang="en-US"/>
              <a:t> each following word</a:t>
            </a:r>
          </a:p>
          <a:p>
            <a:r>
              <a:rPr lang="en-US" err="1"/>
              <a:t>UpperCamel</a:t>
            </a:r>
            <a:r>
              <a:rPr lang="en-US"/>
              <a:t> AKA Pascal Case – start uppercase then </a:t>
            </a:r>
            <a:r>
              <a:rPr lang="en-US" err="1"/>
              <a:t>capitalise</a:t>
            </a:r>
            <a:r>
              <a:rPr lang="en-US"/>
              <a:t> each following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56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Any text following a `#` will be ignored by R. It is used to include comments in the code which will aid understanding later.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91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25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57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56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51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34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app wants you to find the answers in a specific way, try to think of other ways of getting the same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50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28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6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2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24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380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199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62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079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71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71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864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63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Illustrated example of </a:t>
            </a:r>
            <a:r>
              <a:rPr lang="en-US" err="1"/>
              <a:t>case_when</a:t>
            </a:r>
            <a:r>
              <a:rPr lang="en-US"/>
              <a:t>, information covered on previous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00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2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97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Illustrated example of for loop, information covered on previous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348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269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928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 base program: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Ugly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Scary(?)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Not intuitive to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Very few people actually use it this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293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Nicer more intuitive program for writing and running R code</a:t>
            </a:r>
          </a:p>
          <a:p>
            <a:r>
              <a:rPr lang="en-US"/>
              <a:t>Run from desktop</a:t>
            </a:r>
          </a:p>
          <a:p>
            <a:endParaRPr lang="en-US"/>
          </a:p>
          <a:p>
            <a:r>
              <a:rPr lang="en-US"/>
              <a:t>Go to live preview of Desktop/ Posit workbench.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Show Global Options (pane layout/</a:t>
            </a:r>
            <a:r>
              <a:rPr lang="en-US" err="1"/>
              <a:t>customisation</a:t>
            </a:r>
            <a:r>
              <a:rPr lang="en-US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Highlight settings recommendations (save. </a:t>
            </a:r>
            <a:r>
              <a:rPr lang="en-US" err="1"/>
              <a:t>RData</a:t>
            </a:r>
            <a:r>
              <a:rPr lang="en-US"/>
              <a:t>, </a:t>
            </a:r>
            <a:r>
              <a:rPr lang="en-US" err="1"/>
              <a:t>etc</a:t>
            </a:r>
            <a:r>
              <a:rPr lang="en-US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Describe each pane and its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Keyboard shortcut menu – </a:t>
            </a:r>
            <a:r>
              <a:rPr lang="en-US" err="1"/>
              <a:t>Alt+Shift+K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171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Specific projects may still be run on desktop, your team will help if you need this!</a:t>
            </a:r>
          </a:p>
          <a:p>
            <a:endParaRPr lang="en-US"/>
          </a:p>
          <a:p>
            <a:r>
              <a:rPr lang="en-US"/>
              <a:t>Demonstrate logging in and opening a new session in posit workbench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36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678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678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358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23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Different way of accessing data than a </a:t>
            </a:r>
            <a:r>
              <a:rPr lang="en-GB" err="1"/>
              <a:t>proect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151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Illustration showing that </a:t>
            </a:r>
            <a:r>
              <a:rPr lang="en-US" err="1"/>
              <a:t>setwd</a:t>
            </a:r>
            <a:r>
              <a:rPr lang="en-US"/>
              <a:t>() is less resilient than using projects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136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950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597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557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Compressed filetype for R data</a:t>
            </a:r>
          </a:p>
          <a:p>
            <a:endParaRPr lang="en-GB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RDS files are special compressed datafiles specific for 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Take up less space than .csv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Read in faster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 there is currently a potential data security issue with .</a:t>
            </a:r>
            <a:r>
              <a:rPr lang="en-GB" sz="1100" kern="100" err="1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rds</a:t>
            </a: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files, so follow the same security guidelines as you should with any other files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open files that you have specifically asked for or have been explicitly told you are going to receive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 if they come from someone you know</a:t>
            </a: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you’re not sure ask them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open files from unknown or unexpected emails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the email address, spelling mistakes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for manipulation tactics like urgency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receive something you think is spam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click on any links or attachments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Forward the email to </a:t>
            </a:r>
            <a:r>
              <a:rPr lang="en-GB" sz="1100" u="sng" kern="100" err="1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junk@nhs.scot</a:t>
            </a:r>
            <a:endParaRPr lang="en-GB" sz="1100" kern="100">
              <a:solidFill>
                <a:srgbClr val="4472C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GB" sz="11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 the email from your inbox AND your deleted items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389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Generally more compression than .</a:t>
            </a:r>
            <a:r>
              <a:rPr lang="en-GB" err="1"/>
              <a:t>rds</a:t>
            </a:r>
            <a:r>
              <a:rPr lang="en-GB"/>
              <a:t>, faster to read and write, good for saving space on the stats drive!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338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108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871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1669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225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924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820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454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445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07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787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6890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7901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standard structure of tidy data means that “tidy datasets are all alike but every messy dataset is messy in it’s own way” Hadley Wickham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3857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standard structure of tidy data means that “tidy datasets are all alike but every messy dataset is messy in it’s own way” Hadley Wickham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0109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714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516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Basically works by “pre filling” the first argument of a function with the output from the function before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277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Basically works by “pre filling” the first argument of a function with the output from the function before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541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6297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Illustrated example of filter, information covered on previous slide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83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0234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Illustrated example of mutate, information covered on previous slide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51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052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7944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5478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878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853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8328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2057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6111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7871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876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1903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8375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6090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Stages of debugging: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I got this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Huh, I really thought that was it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…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Fine. Restarting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OH WTF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Zombie meltdown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A NEW HOPE!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[insert awesome theme song]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I LOVE CODING!!!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917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Illustrative chart showing “How much I think I know about R” on the y axis, running from “I know nothing” to “I know lots” against time, the line goes up and down but the overall trend increases over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300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2402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6748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8915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0593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asking an R question:</a:t>
            </a:r>
          </a:p>
          <a:p>
            <a:pPr marL="228600" indent="-228600">
              <a:buAutoNum type="arabicPeriod"/>
            </a:pPr>
            <a:r>
              <a:rPr lang="en-US"/>
              <a:t>What steps are required to reproduce the issue?</a:t>
            </a:r>
          </a:p>
          <a:p>
            <a:pPr marL="228600" indent="-228600">
              <a:buAutoNum type="arabicPeriod"/>
            </a:pPr>
            <a:r>
              <a:rPr lang="en-US"/>
              <a:t>What is the expected output? (Describe the goal, be explicit)</a:t>
            </a:r>
          </a:p>
          <a:p>
            <a:pPr marL="228600" indent="-228600">
              <a:buAutoNum type="arabicPeriod"/>
            </a:pPr>
            <a:r>
              <a:rPr lang="en-US"/>
              <a:t>What is the actual output?</a:t>
            </a:r>
          </a:p>
          <a:p>
            <a:pPr marL="228600" indent="-228600">
              <a:buAutoNum type="arabicPeriod"/>
            </a:pPr>
            <a:r>
              <a:rPr lang="en-US"/>
              <a:t>What version of R are you using (Packages, v3.6.0)</a:t>
            </a:r>
          </a:p>
          <a:p>
            <a:pPr marL="228600" indent="-228600">
              <a:buAutoNum type="arabicPeriod"/>
            </a:pPr>
            <a:r>
              <a:rPr lang="en-US"/>
              <a:t>What operating system are you using? (Windows Desktop, Posit Workbench)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8915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Illustation</a:t>
            </a:r>
            <a:r>
              <a:rPr lang="en-GB"/>
              <a:t> showing: At first I was like: [evil R logo, being rained on and waving a white surrender flag, but now its like: making friends with the r logo while the sun is shining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0BD4E-B891-3F48-90C3-34533A395C42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13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39743" y="8176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Title of presentation goes here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38717" y="2319338"/>
            <a:ext cx="10515600" cy="12255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 / date</a:t>
            </a:r>
          </a:p>
        </p:txBody>
      </p:sp>
    </p:spTree>
    <p:extLst>
      <p:ext uri="{BB962C8B-B14F-4D97-AF65-F5344CB8AC3E}">
        <p14:creationId xmlns:p14="http://schemas.microsoft.com/office/powerpoint/2010/main" val="216822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/ sub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/>
              <a:t>Bullet</a:t>
            </a:r>
          </a:p>
          <a:p>
            <a:pPr lvl="1"/>
            <a:r>
              <a:rPr lang="en-US"/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102936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8"/>
            <a:ext cx="5156200" cy="40095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825628"/>
            <a:ext cx="5156200" cy="40095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5336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73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46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317" y="457201"/>
            <a:ext cx="10515600" cy="900260"/>
          </a:xfrm>
        </p:spPr>
        <p:txBody>
          <a:bodyPr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1696828"/>
            <a:ext cx="6172200" cy="41642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1696826"/>
            <a:ext cx="3932767" cy="4172163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Text /caption</a:t>
            </a:r>
          </a:p>
        </p:txBody>
      </p:sp>
    </p:spTree>
    <p:extLst>
      <p:ext uri="{BB962C8B-B14F-4D97-AF65-F5344CB8AC3E}">
        <p14:creationId xmlns:p14="http://schemas.microsoft.com/office/powerpoint/2010/main" val="10698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cap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317" y="457201"/>
            <a:ext cx="10515600" cy="900260"/>
          </a:xfrm>
        </p:spPr>
        <p:txBody>
          <a:bodyPr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0317" y="1696828"/>
            <a:ext cx="10515600" cy="41642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9007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lue slide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16" y="4927703"/>
            <a:ext cx="10515600" cy="72199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9158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green slide"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16" y="4927703"/>
            <a:ext cx="10515600" cy="72199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303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urple slide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16" y="4927703"/>
            <a:ext cx="10515600" cy="72199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85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dark blu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0216" y="4927703"/>
            <a:ext cx="10515600" cy="72199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9389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197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5" r:id="rId4"/>
    <p:sldLayoutId id="2147483686" r:id="rId5"/>
    <p:sldLayoutId id="2147483688" r:id="rId6"/>
    <p:sldLayoutId id="2147483689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hs.transformingpublishing@phs.sco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slide" Target="slide3.xml"/><Relationship Id="rId7" Type="http://schemas.openxmlformats.org/officeDocument/2006/relationships/slide" Target="slide4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0.xml"/><Relationship Id="rId5" Type="http://schemas.openxmlformats.org/officeDocument/2006/relationships/slide" Target="slide38.xml"/><Relationship Id="rId10" Type="http://schemas.openxmlformats.org/officeDocument/2006/relationships/slide" Target="slide92.xml"/><Relationship Id="rId4" Type="http://schemas.openxmlformats.org/officeDocument/2006/relationships/slide" Target="slide15.xml"/><Relationship Id="rId9" Type="http://schemas.openxmlformats.org/officeDocument/2006/relationships/slide" Target="slide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docs/R?doc=R%20Style%20Guide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docs/Posit%20Infrastructure?doc=FAQs.m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wb.publichealthscotland.org/auth-sign-in?appUri=%2F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ublic-health-scotland.github.io/knowledge-base/docs/Posit%20Infrastructure?doc=Quick%20guide%20to%20your%20Posit%20Workbench%20session.md" TargetMode="External"/><Relationship Id="rId4" Type="http://schemas.openxmlformats.org/officeDocument/2006/relationships/hyperlink" Target="https://public-health-scotland.github.io/knowledge-base/docs/Posit%20Infrastructure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docs/Posit%20Infrastructure?doc=Best%20Practice%20with%20R%20in%20Posit%20Workbench.md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docs/Posit%20Infrastructure?doc=FAQs.md#what-is-a-project-in-posit-workbench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hyperlink" Target="https://public-health-scotland.github.io/knowledge-base/docs/Posit%20Infrastructure?doc=FAQs.md#how-do-i-open-or-switch-to-another-project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ublic-health-scotland.github.io/knowledge-base/docs/Posit%20Infrastructure?doc=Recommended%20Data%20Flow%20with%20Stats.md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blic-Health-Scotland/phsopendata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docs/Posit%20Infrastructure?doc=Best%20Practice%20with%20R%20in%20Posit%20Workbench.md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ublic-health-scotland.github.io/knowledge-base/docs/Posit%20Infrastructure?doc=Recommended%20Data%20Flow%20with%20Stats.md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plyr.tidyverse.org/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joins.html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nnel/19%3A9620ef6cf8234d50a0f95caba65a3edf%40thread.tacv2/Posit%20Technical%20Queries?groupId=ec4250f9-b70a-4f32-9372-a232ccb4f713&amp;tenantId=10efe0bd-a030-4bca-809c-b5e6745e499a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-health-scotland.github.io/knowledge-base/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land.shinyapps.io/phs-rtraining-intro/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sv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hyperlink" Target="https://public-health-scotland.github.io/knowledge-base/docs/" TargetMode="Externa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eams.microsoft.com/l/channel/19%3Ac5973b461f5b49e3ba4137124dae359b%40thread.tacv2/Beginners%20Channel?groupId=ec4250f9-b70a-4f32-9372-a232ccb4f713&amp;tenantId=10efe0bd-a030-4bca-809c-b5e6745e499a" TargetMode="External"/><Relationship Id="rId5" Type="http://schemas.openxmlformats.org/officeDocument/2006/relationships/hyperlink" Target="https://teams.microsoft.com/l/channel/19%3a9620ef6cf8234d50a0f95caba65a3edf%40thread.tacv2/Technical%2520Queries?groupId=ec4250f9-b70a-4f32-9372-a232ccb4f713&amp;tenantId=10efe0bd-a030-4bca-809c-b5e6745e499a" TargetMode="External"/><Relationship Id="rId4" Type="http://schemas.openxmlformats.org/officeDocument/2006/relationships/hyperlink" Target="https://teams.microsoft.com/l/team/19%3Ae9f55a12b7d94ef49877ff455a07f035%40thread.tacv2/conversations?groupId=ec4250f9-b70a-4f32-9372-a232ccb4f713&amp;tenantId=10efe0bd-a030-4bca-809c-b5e6745e499a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twitter.com/allison_horst?lang=en" TargetMode="External"/><Relationship Id="rId4" Type="http://schemas.openxmlformats.org/officeDocument/2006/relationships/image" Target="../media/image48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aDw8r4XmmC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anchor="b"/>
          <a:lstStyle/>
          <a:p>
            <a:r>
              <a:rPr lang="en-GB"/>
              <a:t>Transforming Publishing</a:t>
            </a:r>
            <a:br>
              <a:rPr lang="en-GB"/>
            </a:br>
            <a:r>
              <a:rPr lang="en-GB" i="1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phs.transformingpublishing@</a:t>
            </a:r>
            <a:r>
              <a:rPr lang="en-GB" i="1" u="sng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phs.scot</a:t>
            </a:r>
            <a:endParaRPr lang="en-GB" i="1" u="sng"/>
          </a:p>
        </p:txBody>
      </p:sp>
    </p:spTree>
    <p:extLst>
      <p:ext uri="{BB962C8B-B14F-4D97-AF65-F5344CB8AC3E}">
        <p14:creationId xmlns:p14="http://schemas.microsoft.com/office/powerpoint/2010/main" val="105804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3C8940-D3C8-4341-ACE4-990FD8B5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Pathway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5A8477-AFAD-914F-A5E6-0D2AAD73A3A2}"/>
              </a:ext>
            </a:extLst>
          </p:cNvPr>
          <p:cNvSpPr/>
          <p:nvPr/>
        </p:nvSpPr>
        <p:spPr>
          <a:xfrm>
            <a:off x="1203162" y="2215807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87F7BF-5D81-7E41-9230-060DF66BB0D9}"/>
              </a:ext>
            </a:extLst>
          </p:cNvPr>
          <p:cNvSpPr/>
          <p:nvPr/>
        </p:nvSpPr>
        <p:spPr>
          <a:xfrm>
            <a:off x="3504910" y="2219821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48BF129-667D-4949-BA33-6C311F5BB3A2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1386042" y="2307247"/>
            <a:ext cx="2118868" cy="401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C36DBB1-E54A-E543-A8EA-C31B45604EFE}"/>
              </a:ext>
            </a:extLst>
          </p:cNvPr>
          <p:cNvSpPr/>
          <p:nvPr/>
        </p:nvSpPr>
        <p:spPr>
          <a:xfrm>
            <a:off x="6239474" y="2219821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E6C683F5-7624-714C-85C8-80ABE234F976}"/>
              </a:ext>
            </a:extLst>
          </p:cNvPr>
          <p:cNvCxnSpPr>
            <a:cxnSpLocks/>
            <a:stCxn id="9" idx="6"/>
            <a:endCxn id="21" idx="2"/>
          </p:cNvCxnSpPr>
          <p:nvPr/>
        </p:nvCxnSpPr>
        <p:spPr>
          <a:xfrm>
            <a:off x="3687790" y="2311261"/>
            <a:ext cx="2551684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40DB3D4-0F98-3544-8E4F-11F39BFDF277}"/>
              </a:ext>
            </a:extLst>
          </p:cNvPr>
          <p:cNvSpPr/>
          <p:nvPr/>
        </p:nvSpPr>
        <p:spPr>
          <a:xfrm>
            <a:off x="8821638" y="2219821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A0920373-5F4B-B94A-8487-6AFAF933CDFB}"/>
              </a:ext>
            </a:extLst>
          </p:cNvPr>
          <p:cNvCxnSpPr>
            <a:cxnSpLocks/>
            <a:stCxn id="21" idx="6"/>
            <a:endCxn id="26" idx="2"/>
          </p:cNvCxnSpPr>
          <p:nvPr/>
        </p:nvCxnSpPr>
        <p:spPr>
          <a:xfrm>
            <a:off x="6422354" y="2311261"/>
            <a:ext cx="2399284" cy="12700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BEC72CAC-7123-3F40-B614-6ABF33B8C685}"/>
              </a:ext>
            </a:extLst>
          </p:cNvPr>
          <p:cNvSpPr txBox="1">
            <a:spLocks/>
          </p:cNvSpPr>
          <p:nvPr/>
        </p:nvSpPr>
        <p:spPr>
          <a:xfrm>
            <a:off x="1203162" y="1529995"/>
            <a:ext cx="1600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Intro to Data and Tools, Overview of R</a:t>
            </a:r>
          </a:p>
        </p:txBody>
      </p:sp>
      <p:sp>
        <p:nvSpPr>
          <p:cNvPr id="20" name="TextBox 19">
            <a:hlinkClick r:id="rId4" action="ppaction://hlinksldjump"/>
            <a:extLst>
              <a:ext uri="{FF2B5EF4-FFF2-40B4-BE49-F238E27FC236}">
                <a16:creationId xmlns:a16="http://schemas.microsoft.com/office/drawing/2014/main" id="{B86F2D68-B74B-E84A-83AF-FFA9A32969BE}"/>
              </a:ext>
            </a:extLst>
          </p:cNvPr>
          <p:cNvSpPr txBox="1">
            <a:spLocks/>
          </p:cNvSpPr>
          <p:nvPr/>
        </p:nvSpPr>
        <p:spPr>
          <a:xfrm>
            <a:off x="3504910" y="1345329"/>
            <a:ext cx="20330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Foundations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Commenting, Types, Variables, Statements, Data Structures, Packages</a:t>
            </a:r>
          </a:p>
        </p:txBody>
      </p:sp>
      <p:sp>
        <p:nvSpPr>
          <p:cNvPr id="25" name="TextBox 24">
            <a:hlinkClick r:id="rId5" action="ppaction://hlinksldjump"/>
            <a:extLst>
              <a:ext uri="{FF2B5EF4-FFF2-40B4-BE49-F238E27FC236}">
                <a16:creationId xmlns:a16="http://schemas.microsoft.com/office/drawing/2014/main" id="{29A990FA-7248-8042-852E-E552DE1C22A0}"/>
              </a:ext>
            </a:extLst>
          </p:cNvPr>
          <p:cNvSpPr txBox="1">
            <a:spLocks/>
          </p:cNvSpPr>
          <p:nvPr/>
        </p:nvSpPr>
        <p:spPr>
          <a:xfrm>
            <a:off x="6239474" y="1345329"/>
            <a:ext cx="18806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 Workbench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Desktop/Server Version, Interface, Customisation, R Scripts, Hints/Tips</a:t>
            </a:r>
          </a:p>
        </p:txBody>
      </p:sp>
      <p:sp>
        <p:nvSpPr>
          <p:cNvPr id="30" name="TextBox 29">
            <a:hlinkClick r:id="rId6" action="ppaction://hlinksldjump"/>
            <a:extLst>
              <a:ext uri="{FF2B5EF4-FFF2-40B4-BE49-F238E27FC236}">
                <a16:creationId xmlns:a16="http://schemas.microsoft.com/office/drawing/2014/main" id="{10A2BC52-ADBE-A645-8994-4F619B36C728}"/>
              </a:ext>
            </a:extLst>
          </p:cNvPr>
          <p:cNvSpPr txBox="1">
            <a:spLocks/>
          </p:cNvSpPr>
          <p:nvPr/>
        </p:nvSpPr>
        <p:spPr>
          <a:xfrm>
            <a:off x="8821638" y="1167454"/>
            <a:ext cx="2160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Overview (Collect, Explore, Wrangle, Viz, Outputs), Git(Hub/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), RMarkdown, RAP, Templates, Style Guide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B35DB9C-81F1-0F44-A2DA-B391401BF908}"/>
              </a:ext>
            </a:extLst>
          </p:cNvPr>
          <p:cNvSpPr/>
          <p:nvPr/>
        </p:nvSpPr>
        <p:spPr>
          <a:xfrm>
            <a:off x="8821638" y="3611357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hlinkClick r:id="rId7" action="ppaction://hlinksldjump"/>
            <a:extLst>
              <a:ext uri="{FF2B5EF4-FFF2-40B4-BE49-F238E27FC236}">
                <a16:creationId xmlns:a16="http://schemas.microsoft.com/office/drawing/2014/main" id="{72076D74-DCAA-9D45-961C-3D55238A2A3C}"/>
              </a:ext>
            </a:extLst>
          </p:cNvPr>
          <p:cNvSpPr txBox="1"/>
          <p:nvPr/>
        </p:nvSpPr>
        <p:spPr>
          <a:xfrm>
            <a:off x="6834342" y="2749583"/>
            <a:ext cx="216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Flow</a:t>
            </a:r>
          </a:p>
          <a:p>
            <a:pPr algn="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Directories/File Paths, CSVs, SPSS (haven), SMRA/Other Databases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9F0B65-CB0A-EC4E-A6F9-339704E2A0AE}"/>
              </a:ext>
            </a:extLst>
          </p:cNvPr>
          <p:cNvSpPr/>
          <p:nvPr/>
        </p:nvSpPr>
        <p:spPr>
          <a:xfrm>
            <a:off x="6239474" y="3611357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330711D3-9482-8E49-AB3C-7C2DB714C92D}"/>
              </a:ext>
            </a:extLst>
          </p:cNvPr>
          <p:cNvCxnSpPr>
            <a:cxnSpLocks/>
            <a:stCxn id="37" idx="6"/>
            <a:endCxn id="32" idx="2"/>
          </p:cNvCxnSpPr>
          <p:nvPr/>
        </p:nvCxnSpPr>
        <p:spPr>
          <a:xfrm>
            <a:off x="6422354" y="3702797"/>
            <a:ext cx="2399284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hlinkClick r:id="rId8" action="ppaction://hlinksldjump"/>
            <a:extLst>
              <a:ext uri="{FF2B5EF4-FFF2-40B4-BE49-F238E27FC236}">
                <a16:creationId xmlns:a16="http://schemas.microsoft.com/office/drawing/2014/main" id="{2473C6BB-EE26-2E45-9076-E21CF7BB5C97}"/>
              </a:ext>
            </a:extLst>
          </p:cNvPr>
          <p:cNvSpPr txBox="1"/>
          <p:nvPr/>
        </p:nvSpPr>
        <p:spPr>
          <a:xfrm>
            <a:off x="4586288" y="2749583"/>
            <a:ext cx="18360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</a:p>
          <a:p>
            <a:pPr algn="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Mean, Median, Summary Function, Frequencies/Cross-Tabs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DF967C0-CF64-C24B-8B84-CCE86545BD55}"/>
              </a:ext>
            </a:extLst>
          </p:cNvPr>
          <p:cNvSpPr/>
          <p:nvPr/>
        </p:nvSpPr>
        <p:spPr>
          <a:xfrm>
            <a:off x="3504910" y="3611357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A57376EB-94A7-2546-AE32-026CA29D069F}"/>
              </a:ext>
            </a:extLst>
          </p:cNvPr>
          <p:cNvCxnSpPr>
            <a:cxnSpLocks/>
            <a:stCxn id="42" idx="6"/>
            <a:endCxn id="37" idx="2"/>
          </p:cNvCxnSpPr>
          <p:nvPr/>
        </p:nvCxnSpPr>
        <p:spPr>
          <a:xfrm>
            <a:off x="3687790" y="3702797"/>
            <a:ext cx="2551684" cy="12700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C468C840-B2FC-1A4D-8C12-4AEE403ED455}"/>
              </a:ext>
            </a:extLst>
          </p:cNvPr>
          <p:cNvCxnSpPr>
            <a:cxnSpLocks/>
            <a:stCxn id="26" idx="6"/>
            <a:endCxn id="32" idx="6"/>
          </p:cNvCxnSpPr>
          <p:nvPr/>
        </p:nvCxnSpPr>
        <p:spPr>
          <a:xfrm>
            <a:off x="9004518" y="2311261"/>
            <a:ext cx="12700" cy="1391536"/>
          </a:xfrm>
          <a:prstGeom prst="curvedConnector3">
            <a:avLst>
              <a:gd name="adj1" fmla="val 556744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hlinkClick r:id="rId9" action="ppaction://hlinksldjump"/>
            <a:extLst>
              <a:ext uri="{FF2B5EF4-FFF2-40B4-BE49-F238E27FC236}">
                <a16:creationId xmlns:a16="http://schemas.microsoft.com/office/drawing/2014/main" id="{F7CAA2B0-6DCC-6C43-B565-15482D36F791}"/>
              </a:ext>
            </a:extLst>
          </p:cNvPr>
          <p:cNvSpPr txBox="1"/>
          <p:nvPr/>
        </p:nvSpPr>
        <p:spPr>
          <a:xfrm>
            <a:off x="1136106" y="2753565"/>
            <a:ext cx="25516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Wrangle</a:t>
            </a:r>
          </a:p>
          <a:p>
            <a:pPr algn="r"/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Tidyverse (dplyr/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magrittr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), Pipes, Functions (Filter, Mutate, Arrange, etc.), PHS Methods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9E8A7D5-CBEE-6A40-894A-372DF39E4D6B}"/>
              </a:ext>
            </a:extLst>
          </p:cNvPr>
          <p:cNvSpPr/>
          <p:nvPr/>
        </p:nvSpPr>
        <p:spPr>
          <a:xfrm>
            <a:off x="3504910" y="5020987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Curved Connector 90">
            <a:extLst>
              <a:ext uri="{FF2B5EF4-FFF2-40B4-BE49-F238E27FC236}">
                <a16:creationId xmlns:a16="http://schemas.microsoft.com/office/drawing/2014/main" id="{34AC794C-2C84-9B41-BAF6-B3CFBAF68D0D}"/>
              </a:ext>
            </a:extLst>
          </p:cNvPr>
          <p:cNvCxnSpPr>
            <a:cxnSpLocks/>
            <a:stCxn id="90" idx="2"/>
            <a:endCxn id="42" idx="2"/>
          </p:cNvCxnSpPr>
          <p:nvPr/>
        </p:nvCxnSpPr>
        <p:spPr>
          <a:xfrm rot="10800000">
            <a:off x="3504910" y="3702797"/>
            <a:ext cx="12700" cy="1409630"/>
          </a:xfrm>
          <a:prstGeom prst="curvedConnector3">
            <a:avLst>
              <a:gd name="adj1" fmla="val 64046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hlinkClick r:id="" action="ppaction://noaction"/>
            <a:extLst>
              <a:ext uri="{FF2B5EF4-FFF2-40B4-BE49-F238E27FC236}">
                <a16:creationId xmlns:a16="http://schemas.microsoft.com/office/drawing/2014/main" id="{33964F4E-2798-474D-A5CD-E7D0A470482F}"/>
              </a:ext>
            </a:extLst>
          </p:cNvPr>
          <p:cNvSpPr txBox="1">
            <a:spLocks/>
          </p:cNvSpPr>
          <p:nvPr/>
        </p:nvSpPr>
        <p:spPr>
          <a:xfrm>
            <a:off x="3517610" y="4147881"/>
            <a:ext cx="22844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Visualise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Intro to ggplot2, Line Graphs, Bar Plots, Scatterplots, Customisation</a:t>
            </a:r>
          </a:p>
        </p:txBody>
      </p:sp>
      <p:cxnSp>
        <p:nvCxnSpPr>
          <p:cNvPr id="95" name="Curved Connector 94">
            <a:extLst>
              <a:ext uri="{FF2B5EF4-FFF2-40B4-BE49-F238E27FC236}">
                <a16:creationId xmlns:a16="http://schemas.microsoft.com/office/drawing/2014/main" id="{35126704-27EA-0E4A-ABD6-801C07EE5AE4}"/>
              </a:ext>
            </a:extLst>
          </p:cNvPr>
          <p:cNvCxnSpPr>
            <a:cxnSpLocks/>
            <a:stCxn id="90" idx="6"/>
            <a:endCxn id="97" idx="2"/>
          </p:cNvCxnSpPr>
          <p:nvPr/>
        </p:nvCxnSpPr>
        <p:spPr>
          <a:xfrm flipV="1">
            <a:off x="3687790" y="5107033"/>
            <a:ext cx="2551684" cy="5394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2F02750-86F1-EB47-B3B6-AFD8F852F472}"/>
              </a:ext>
            </a:extLst>
          </p:cNvPr>
          <p:cNvSpPr/>
          <p:nvPr/>
        </p:nvSpPr>
        <p:spPr>
          <a:xfrm>
            <a:off x="6239474" y="5015593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hlinkClick r:id="" action="ppaction://noaction"/>
            <a:extLst>
              <a:ext uri="{FF2B5EF4-FFF2-40B4-BE49-F238E27FC236}">
                <a16:creationId xmlns:a16="http://schemas.microsoft.com/office/drawing/2014/main" id="{0E48F527-0D34-0B45-965C-D86A83B57CA8}"/>
              </a:ext>
            </a:extLst>
          </p:cNvPr>
          <p:cNvSpPr txBox="1">
            <a:spLocks/>
          </p:cNvSpPr>
          <p:nvPr/>
        </p:nvSpPr>
        <p:spPr>
          <a:xfrm>
            <a:off x="6239474" y="4332547"/>
            <a:ext cx="2160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Overview of RMarkdown, Shiny, etc.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E23F7C7-8B9A-2D46-A995-C6E23966A6AC}"/>
              </a:ext>
            </a:extLst>
          </p:cNvPr>
          <p:cNvSpPr/>
          <p:nvPr/>
        </p:nvSpPr>
        <p:spPr>
          <a:xfrm>
            <a:off x="8811462" y="5009655"/>
            <a:ext cx="182880" cy="182880"/>
          </a:xfrm>
          <a:prstGeom prst="ellipse">
            <a:avLst/>
          </a:prstGeom>
          <a:solidFill>
            <a:srgbClr val="95C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Curved Connector 101">
            <a:extLst>
              <a:ext uri="{FF2B5EF4-FFF2-40B4-BE49-F238E27FC236}">
                <a16:creationId xmlns:a16="http://schemas.microsoft.com/office/drawing/2014/main" id="{C454E47F-E080-3F4B-A13D-A53CDF300A01}"/>
              </a:ext>
            </a:extLst>
          </p:cNvPr>
          <p:cNvCxnSpPr>
            <a:cxnSpLocks/>
            <a:stCxn id="97" idx="6"/>
            <a:endCxn id="101" idx="2"/>
          </p:cNvCxnSpPr>
          <p:nvPr/>
        </p:nvCxnSpPr>
        <p:spPr>
          <a:xfrm flipV="1">
            <a:off x="6422354" y="5101095"/>
            <a:ext cx="2389108" cy="593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hlinkClick r:id="rId10" action="ppaction://hlinksldjump"/>
            <a:extLst>
              <a:ext uri="{FF2B5EF4-FFF2-40B4-BE49-F238E27FC236}">
                <a16:creationId xmlns:a16="http://schemas.microsoft.com/office/drawing/2014/main" id="{697918BD-52EE-5B44-812D-81CFE71E345D}"/>
              </a:ext>
            </a:extLst>
          </p:cNvPr>
          <p:cNvSpPr txBox="1">
            <a:spLocks/>
          </p:cNvSpPr>
          <p:nvPr/>
        </p:nvSpPr>
        <p:spPr>
          <a:xfrm>
            <a:off x="8811462" y="4325280"/>
            <a:ext cx="18653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9B43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Overview, Next Steps, Q&amp;A</a:t>
            </a:r>
          </a:p>
        </p:txBody>
      </p:sp>
    </p:spTree>
    <p:extLst>
      <p:ext uri="{BB962C8B-B14F-4D97-AF65-F5344CB8AC3E}">
        <p14:creationId xmlns:p14="http://schemas.microsoft.com/office/powerpoint/2010/main" val="3865341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1B4B-B484-F44D-85C7-647E599E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the why</a:t>
            </a:r>
          </a:p>
        </p:txBody>
      </p:sp>
    </p:spTree>
    <p:extLst>
      <p:ext uri="{BB962C8B-B14F-4D97-AF65-F5344CB8AC3E}">
        <p14:creationId xmlns:p14="http://schemas.microsoft.com/office/powerpoint/2010/main" val="364148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106D-658B-5643-B085-E3E09875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BD03E-0A6A-184A-BF2B-3DAC959600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en-US" sz="2000">
                <a:latin typeface="Calibri Light" panose="020F0302020204030204" pitchFamily="34" charset="0"/>
                <a:cs typeface="Calibri Light" panose="020F0302020204030204" pitchFamily="34" charset="0"/>
              </a:rPr>
              <a:t>is a 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programming language</a:t>
            </a:r>
            <a:r>
              <a:rPr lang="en-US" sz="2000">
                <a:latin typeface="Calibri Light" panose="020F0302020204030204" pitchFamily="34" charset="0"/>
                <a:cs typeface="Calibri Light" panose="020F0302020204030204" pitchFamily="34" charset="0"/>
              </a:rPr>
              <a:t> widely used for data analysis, statistics, and graphics;</a:t>
            </a:r>
          </a:p>
          <a:p>
            <a:pPr marL="0" indent="0">
              <a:buNone/>
            </a:pPr>
            <a:endParaRPr lang="en-US" sz="2000" i="1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is open source</a:t>
            </a:r>
            <a:r>
              <a:rPr lang="en-US" sz="2000">
                <a:latin typeface="Calibri Light" panose="020F0302020204030204" pitchFamily="34" charset="0"/>
                <a:cs typeface="Calibri Light" panose="020F0302020204030204" pitchFamily="34" charset="0"/>
              </a:rPr>
              <a:t>, available on all major operating systems;</a:t>
            </a:r>
          </a:p>
          <a:p>
            <a:endParaRPr lang="en-US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>
                <a:latin typeface="Calibri Light" panose="020F0302020204030204" pitchFamily="34" charset="0"/>
                <a:cs typeface="Calibri Light" panose="020F0302020204030204" pitchFamily="34" charset="0"/>
              </a:rPr>
              <a:t>has the functionality to go from raw data to interactive reports and web apps;</a:t>
            </a:r>
          </a:p>
          <a:p>
            <a:pPr marL="0" indent="0">
              <a:buNone/>
            </a:pPr>
            <a:endParaRPr lang="en-US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>
                <a:latin typeface="Calibri Light" panose="020F0302020204030204" pitchFamily="34" charset="0"/>
                <a:cs typeface="Calibri Light" panose="020F0302020204030204" pitchFamily="34" charset="0"/>
              </a:rPr>
              <a:t>and it’s part of the 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PHS analytical strategy.</a:t>
            </a:r>
          </a:p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18FC93-7D27-744F-A14F-219D71505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483" y="2534545"/>
            <a:ext cx="2312804" cy="1788909"/>
          </a:xfrm>
        </p:spPr>
      </p:pic>
    </p:spTree>
    <p:extLst>
      <p:ext uri="{BB962C8B-B14F-4D97-AF65-F5344CB8AC3E}">
        <p14:creationId xmlns:p14="http://schemas.microsoft.com/office/powerpoint/2010/main" val="34153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D498-4FDA-5C44-8222-C0C0210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– the what</a:t>
            </a:r>
          </a:p>
        </p:txBody>
      </p:sp>
    </p:spTree>
    <p:extLst>
      <p:ext uri="{BB962C8B-B14F-4D97-AF65-F5344CB8AC3E}">
        <p14:creationId xmlns:p14="http://schemas.microsoft.com/office/powerpoint/2010/main" val="302901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92"/>
            <a:ext cx="10515600" cy="41445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Basic Data Types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– how is fundamental data, like numbers and text, represented? This is then the foundations of more complex, composite data types, e.g. tables.</a:t>
            </a:r>
          </a:p>
          <a:p>
            <a:pPr lvl="0"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named storage to track "objects" across our program</a:t>
            </a:r>
            <a:endParaRPr lang="en-US">
              <a:solidFill>
                <a:prstClr val="black"/>
              </a:solidFill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Statements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a complete line of code, made of expressions and operators</a:t>
            </a: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Control Flow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branching (if statements) and iteration (loops)</a:t>
            </a:r>
          </a:p>
          <a:p>
            <a:pPr>
              <a:lnSpc>
                <a:spcPct val="150000"/>
              </a:lnSpc>
            </a:pPr>
            <a:r>
              <a:rPr lang="en-US">
                <a:latin typeface="+mn-lt"/>
                <a:cs typeface="Calibri Light" panose="020F0302020204030204" pitchFamily="34" charset="0"/>
              </a:rPr>
              <a:t>Functions 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– reusable code that </a:t>
            </a:r>
            <a:r>
              <a:rPr lang="en-US" i="1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can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take inputs and give outputs</a:t>
            </a:r>
            <a:endParaRPr lang="en-US">
              <a:latin typeface="+mn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4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Basic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Character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(String) – e.g. 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"Hello World!"</a:t>
            </a:r>
          </a:p>
          <a:p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(Float/Real) – e.g. </a:t>
            </a:r>
            <a:r>
              <a:rPr lang="en-US">
                <a:solidFill>
                  <a:prstClr val="black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123.5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Logical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(Boolean) – e.g.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8C8C9-6FD0-9042-A5C7-B0271522A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9"/>
            <a:ext cx="5156200" cy="160337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("Hello World")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is.numeric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(123.5)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(TRUE))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386C1F-892E-EB43-8AB6-D053F07623F9}"/>
              </a:ext>
            </a:extLst>
          </p:cNvPr>
          <p:cNvSpPr txBox="1">
            <a:spLocks/>
          </p:cNvSpPr>
          <p:nvPr/>
        </p:nvSpPr>
        <p:spPr>
          <a:xfrm>
            <a:off x="6197600" y="3563938"/>
            <a:ext cx="5156200" cy="16033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"character"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TRUE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"logical"</a:t>
            </a:r>
          </a:p>
        </p:txBody>
      </p:sp>
    </p:spTree>
    <p:extLst>
      <p:ext uri="{BB962C8B-B14F-4D97-AF65-F5344CB8AC3E}">
        <p14:creationId xmlns:p14="http://schemas.microsoft.com/office/powerpoint/2010/main" val="19643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as.&lt;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&gt;()</a:t>
            </a:r>
          </a:p>
          <a:p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as.character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conversions tend to succeed without fault</a:t>
            </a:r>
          </a:p>
          <a:p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– TRUE and FALSE become 1 and 0, character types needs to be formatted correctly</a:t>
            </a:r>
          </a:p>
          <a:p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as.logical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– everything except 0 becomes TRUE for numeric conversions, character can be upper, lower, or proper case versions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6033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as.character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(123.5)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("123.5")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as.logical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("False")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563938"/>
            <a:ext cx="5156200" cy="16033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"123.5"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123.5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FALSE</a:t>
            </a:r>
          </a:p>
        </p:txBody>
      </p:sp>
    </p:spTree>
    <p:extLst>
      <p:ext uri="{BB962C8B-B14F-4D97-AF65-F5344CB8AC3E}">
        <p14:creationId xmlns:p14="http://schemas.microsoft.com/office/powerpoint/2010/main" val="8509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6306879" cy="4009567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Way of saving data to the memory to be used later in a program </a:t>
            </a:r>
            <a:r>
              <a:rPr lang="en-US">
                <a:solidFill>
                  <a:prstClr val="black"/>
                </a:solidFill>
                <a:latin typeface="+mj-lt"/>
                <a:cs typeface="Calibri" panose="020F0502020204030204" pitchFamily="34" charset="0"/>
              </a:rPr>
              <a:t>– can save single numbers or entire datasets</a:t>
            </a:r>
          </a:p>
          <a:p>
            <a:pPr marL="0" indent="0">
              <a:buNone/>
            </a:pPr>
            <a:endParaRPr lang="en-US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variables are assigned mainly with `&lt;-` </a:t>
            </a:r>
            <a:r>
              <a:rPr lang="en-US" i="1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 can use the keyboard shortcut alt+-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Naming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Must be all one word. Letters, numbers, dots `.` or underscores `_` are all okay. However, you </a:t>
            </a:r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can’t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start with an underscore or number, or a dot then a number. Any existing terminology is also reserved from being used as a variable.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i="1">
                <a:latin typeface="Calibri Light" panose="020F0302020204030204" pitchFamily="34" charset="0"/>
                <a:cs typeface="Calibri Light" panose="020F0302020204030204" pitchFamily="34" charset="0"/>
              </a:rPr>
              <a:t>Following style guidance is also important.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85FCB33-41DF-E0A9-4FD5-CCA3032261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84885" y="1825628"/>
            <a:ext cx="5163777" cy="2981150"/>
          </a:xfrm>
        </p:spPr>
      </p:pic>
    </p:spTree>
    <p:extLst>
      <p:ext uri="{BB962C8B-B14F-4D97-AF65-F5344CB8AC3E}">
        <p14:creationId xmlns:p14="http://schemas.microsoft.com/office/powerpoint/2010/main" val="256474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1615-BF70-E845-8BD4-87E2F196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Mathematical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EBE178-4FF2-C343-8AB0-38EBFC68C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289516"/>
              </p:ext>
            </p:extLst>
          </p:nvPr>
        </p:nvGraphicFramePr>
        <p:xfrm>
          <a:off x="1219200" y="1534160"/>
          <a:ext cx="10134599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098">
                  <a:extLst>
                    <a:ext uri="{9D8B030D-6E8A-4147-A177-3AD203B41FA5}">
                      <a16:colId xmlns:a16="http://schemas.microsoft.com/office/drawing/2014/main" val="1345717235"/>
                    </a:ext>
                  </a:extLst>
                </a:gridCol>
                <a:gridCol w="2371572">
                  <a:extLst>
                    <a:ext uri="{9D8B030D-6E8A-4147-A177-3AD203B41FA5}">
                      <a16:colId xmlns:a16="http://schemas.microsoft.com/office/drawing/2014/main" val="348202872"/>
                    </a:ext>
                  </a:extLst>
                </a:gridCol>
                <a:gridCol w="6296929">
                  <a:extLst>
                    <a:ext uri="{9D8B030D-6E8A-4147-A177-3AD203B41FA5}">
                      <a16:colId xmlns:a16="http://schemas.microsoft.com/office/drawing/2014/main" val="2833690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Precedence</a:t>
                      </a:r>
                    </a:p>
                  </a:txBody>
                  <a:tcPr anchor="ctr">
                    <a:solidFill>
                      <a:srgbClr val="4235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Operator</a:t>
                      </a:r>
                    </a:p>
                  </a:txBody>
                  <a:tcPr anchor="ctr">
                    <a:solidFill>
                      <a:srgbClr val="4235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Description</a:t>
                      </a:r>
                    </a:p>
                  </a:txBody>
                  <a:tcPr anchor="ctr">
                    <a:solidFill>
                      <a:srgbClr val="423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11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^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To the power of/ Exponentiation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49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%%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Modulus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59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   /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Multiplication, Division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7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  –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Addition, Subtraction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49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  &gt;   &lt;=  &gt;=    ==    !=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Comparison Operators (Less Than, More Than, Less Than or Equal To, More Than or Equal To, Equal To, Not Equal To)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13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6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Logical NOT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53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7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   &amp;&amp;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Logical AND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9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 ||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Logical OR</a:t>
                      </a:r>
                    </a:p>
                  </a:txBody>
                  <a:tcPr anchor="ctr">
                    <a:solidFill>
                      <a:srgbClr val="9B4392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7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66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We’re going to use an app for a lot of our interactive work, especially today. (Use hint button if you get stuck).</a:t>
            </a: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rtraining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Foundations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245570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Anatomy of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5800" y="1797058"/>
            <a:ext cx="5588000" cy="40095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Example 1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hello_world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variable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 –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assignment operator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+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"Hello World"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 –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character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highlight>
                  <a:srgbClr val="C0C0C0"/>
                </a:highlight>
                <a:latin typeface="Calibri Light" panose="020F0302020204030204" pitchFamily="34" charset="0"/>
                <a:cs typeface="Calibri Light" panose="020F0302020204030204" pitchFamily="34" charset="0"/>
              </a:rPr>
              <a:t>print()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8C8C9-6FD0-9042-A5C7-B0271522A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7058"/>
            <a:ext cx="4699000" cy="160337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Example 1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hello_world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"Hello World"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hello_world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386C1F-892E-EB43-8AB6-D053F07623F9}"/>
              </a:ext>
            </a:extLst>
          </p:cNvPr>
          <p:cNvSpPr txBox="1">
            <a:spLocks/>
          </p:cNvSpPr>
          <p:nvPr/>
        </p:nvSpPr>
        <p:spPr>
          <a:xfrm>
            <a:off x="838200" y="3512913"/>
            <a:ext cx="4699000" cy="830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"Hello World"</a:t>
            </a:r>
          </a:p>
        </p:txBody>
      </p:sp>
    </p:spTree>
    <p:extLst>
      <p:ext uri="{BB962C8B-B14F-4D97-AF65-F5344CB8AC3E}">
        <p14:creationId xmlns:p14="http://schemas.microsoft.com/office/powerpoint/2010/main" val="371211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Coding Case Types</a:t>
            </a:r>
          </a:p>
        </p:txBody>
      </p:sp>
      <p:pic>
        <p:nvPicPr>
          <p:cNvPr id="28" name="Picture 27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5AF74EDF-0BA3-3646-B79A-E249B8636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792" y="930492"/>
            <a:ext cx="3645536" cy="4349377"/>
          </a:xfrm>
          <a:prstGeom prst="rect">
            <a:avLst/>
          </a:prstGeom>
        </p:spPr>
      </p:pic>
      <p:pic>
        <p:nvPicPr>
          <p:cNvPr id="34" name="Picture 3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4D1CDE9-EFBB-284D-8ADB-D0C0A0B6AC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" y="4089203"/>
            <a:ext cx="5035296" cy="1576737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047F20AF-609F-6F4B-88ED-0782518163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87" y="1540968"/>
            <a:ext cx="4705132" cy="2455657"/>
          </a:xfrm>
          <a:prstGeom prst="rect">
            <a:avLst/>
          </a:prstGeom>
        </p:spPr>
      </p:pic>
      <p:pic>
        <p:nvPicPr>
          <p:cNvPr id="30" name="Picture 29" descr="Text&#10;&#10;Description automatically generated">
            <a:extLst>
              <a:ext uri="{FF2B5EF4-FFF2-40B4-BE49-F238E27FC236}">
                <a16:creationId xmlns:a16="http://schemas.microsoft.com/office/drawing/2014/main" id="{3AB9422B-60F3-4640-AA71-DFBAAD206D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440" y="2715625"/>
            <a:ext cx="3627120" cy="15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8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Style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56360"/>
            <a:ext cx="5552091" cy="4478835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Naming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variables and filenames should have meaningful names in </a:t>
            </a:r>
            <a:r>
              <a:rPr lang="en-US" err="1">
                <a:latin typeface="Calibri Light" panose="020F0302020204030204" pitchFamily="34" charset="0"/>
                <a:cs typeface="Calibri Light" panose="020F0302020204030204" pitchFamily="34" charset="0"/>
              </a:rPr>
              <a:t>snake_case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format, preferring all lower case.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Comments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use # to write comments that section out the code and explain what it does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  <a:p>
            <a:pPr lvl="1"/>
            <a:r>
              <a:rPr lang="en-US" sz="24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Space after a comma</a:t>
            </a:r>
          </a:p>
          <a:p>
            <a:pPr lvl="1"/>
            <a:r>
              <a:rPr lang="en-US" sz="24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spaces before or after </a:t>
            </a:r>
            <a:r>
              <a:rPr lang="en-US" sz="2400" err="1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parenthesisPrefer</a:t>
            </a:r>
            <a:r>
              <a:rPr lang="en-US" sz="24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>
                <a:solidFill>
                  <a:prstClr val="black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" </a:t>
            </a:r>
            <a:r>
              <a:rPr lang="en-US" sz="24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over </a:t>
            </a:r>
            <a:r>
              <a:rPr lang="en-US" sz="2400">
                <a:solidFill>
                  <a:prstClr val="black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' </a:t>
            </a:r>
            <a:r>
              <a:rPr lang="en-US" sz="2400">
                <a:solidFill>
                  <a:prstClr val="black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24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characters</a:t>
            </a:r>
          </a:p>
          <a:p>
            <a:pPr marL="342900" lvl="1" indent="0">
              <a:buNone/>
            </a:pPr>
            <a:endParaRPr lang="en-US" sz="240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7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More Info: </a:t>
            </a:r>
            <a:r>
              <a:rPr lang="en-GB" sz="2000">
                <a:hlinkClick r:id="rId3"/>
              </a:rPr>
              <a:t>PHS Data Science - Knowledge Base (public-health-scotland.github.io)</a:t>
            </a:r>
            <a:endParaRPr lang="en-US" sz="270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endParaRPr lang="en-US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6E4A39-1F77-F7CC-61A7-67F86837AA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26071" y="2533535"/>
            <a:ext cx="6116488" cy="1766615"/>
          </a:xfrm>
        </p:spPr>
      </p:pic>
    </p:spTree>
    <p:extLst>
      <p:ext uri="{BB962C8B-B14F-4D97-AF65-F5344CB8AC3E}">
        <p14:creationId xmlns:p14="http://schemas.microsoft.com/office/powerpoint/2010/main" val="1200548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D498-4FDA-5C44-8222-C0C0210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– the what</a:t>
            </a:r>
          </a:p>
        </p:txBody>
      </p:sp>
    </p:spTree>
    <p:extLst>
      <p:ext uri="{BB962C8B-B14F-4D97-AF65-F5344CB8AC3E}">
        <p14:creationId xmlns:p14="http://schemas.microsoft.com/office/powerpoint/2010/main" val="319832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FA71-B9A3-F040-B473-A57882CB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Data Structures</a:t>
            </a:r>
          </a:p>
        </p:txBody>
      </p:sp>
      <p:pic>
        <p:nvPicPr>
          <p:cNvPr id="6" name="Content Placeholder 5" descr="Table">
            <a:extLst>
              <a:ext uri="{FF2B5EF4-FFF2-40B4-BE49-F238E27FC236}">
                <a16:creationId xmlns:a16="http://schemas.microsoft.com/office/drawing/2014/main" id="{1AF70294-F104-A04A-9B5A-ED9717A648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2495" y="2481511"/>
            <a:ext cx="2520000" cy="2520000"/>
          </a:xfrm>
        </p:spPr>
      </p:pic>
      <p:pic>
        <p:nvPicPr>
          <p:cNvPr id="7" name="Content Placeholder 5" descr="Table">
            <a:extLst>
              <a:ext uri="{FF2B5EF4-FFF2-40B4-BE49-F238E27FC236}">
                <a16:creationId xmlns:a16="http://schemas.microsoft.com/office/drawing/2014/main" id="{7BB2410F-E826-D94F-BF75-51ABFD1D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2895" y="1978500"/>
            <a:ext cx="2520000" cy="25200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F95A890A-1E4E-434C-A693-4C457C146E34}"/>
              </a:ext>
            </a:extLst>
          </p:cNvPr>
          <p:cNvSpPr/>
          <p:nvPr/>
        </p:nvSpPr>
        <p:spPr>
          <a:xfrm>
            <a:off x="7232648" y="3949698"/>
            <a:ext cx="139694" cy="457200"/>
          </a:xfrm>
          <a:prstGeom prst="leftBrace">
            <a:avLst/>
          </a:prstGeom>
          <a:ln w="25400">
            <a:solidFill>
              <a:srgbClr val="9B4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8BD439D-2A26-5245-9433-9AB43ABE8F5D}"/>
              </a:ext>
            </a:extLst>
          </p:cNvPr>
          <p:cNvSpPr/>
          <p:nvPr/>
        </p:nvSpPr>
        <p:spPr>
          <a:xfrm rot="10800000">
            <a:off x="10381288" y="2624132"/>
            <a:ext cx="210512" cy="1211268"/>
          </a:xfrm>
          <a:prstGeom prst="leftBrace">
            <a:avLst/>
          </a:prstGeom>
          <a:ln w="25400">
            <a:solidFill>
              <a:srgbClr val="9B4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CEFAE31-4282-8C49-99A5-FE886B0C05E9}"/>
              </a:ext>
            </a:extLst>
          </p:cNvPr>
          <p:cNvSpPr/>
          <p:nvPr/>
        </p:nvSpPr>
        <p:spPr>
          <a:xfrm rot="5400000">
            <a:off x="8712873" y="891409"/>
            <a:ext cx="369462" cy="2677195"/>
          </a:xfrm>
          <a:prstGeom prst="leftBrace">
            <a:avLst/>
          </a:prstGeom>
          <a:ln w="25400">
            <a:solidFill>
              <a:srgbClr val="9B4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9C8094B-12CF-AA4E-95CE-4F74DBB20F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Factors</a:t>
            </a: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Matrices</a:t>
            </a: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Data Frame</a:t>
            </a: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provides an overview and description of the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389502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80370"/>
            <a:ext cx="4587240" cy="4154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contain multiple objects of the </a:t>
            </a:r>
            <a:r>
              <a:rPr lang="en-US" i="1">
                <a:latin typeface="Calibri Light" panose="020F0302020204030204" pitchFamily="34" charset="0"/>
                <a:cs typeface="Calibri Light" panose="020F0302020204030204" pitchFamily="34" charset="0"/>
              </a:rPr>
              <a:t>same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basic class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c(...)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or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vector(&lt;type&gt;, &lt;length&gt;)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&lt;vector&gt;[&lt;index&gt;]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index can be a number or a name if the vector has assigned them using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names()</a:t>
            </a: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16D1FA-0D8E-4FB0-D098-208A3748B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227"/>
          <a:stretch/>
        </p:blipFill>
        <p:spPr>
          <a:xfrm>
            <a:off x="3066133" y="354807"/>
            <a:ext cx="770357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4AB2E-C7C8-D950-4651-4EEA5BF9D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269" y="2205277"/>
            <a:ext cx="5862609" cy="311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92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are a special type of vector that can contain objects of </a:t>
            </a:r>
            <a:r>
              <a:rPr lang="en-US" i="1">
                <a:latin typeface="Calibri Light" panose="020F0302020204030204" pitchFamily="34" charset="0"/>
                <a:cs typeface="Calibri Light" panose="020F0302020204030204" pitchFamily="34" charset="0"/>
              </a:rPr>
              <a:t>different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classes, including other lists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list(...)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Sub-list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&lt;list&gt;[&lt;index&gt;]</a:t>
            </a:r>
          </a:p>
          <a:p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&lt;list&gt;[[&lt;index&gt;]]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9"/>
            <a:ext cx="5156200" cy="1222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list("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", 4, FALSE)[1:2]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list(list(2, 3), "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")[[2]]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182938"/>
            <a:ext cx="2514600" cy="19986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[[1]]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</a:t>
            </a:r>
            <a:r>
              <a:rPr lang="en-US" sz="20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[[2]]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4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45E0B9A-73AC-F145-A8F0-762C1751DBD6}"/>
              </a:ext>
            </a:extLst>
          </p:cNvPr>
          <p:cNvSpPr txBox="1">
            <a:spLocks/>
          </p:cNvSpPr>
          <p:nvPr/>
        </p:nvSpPr>
        <p:spPr>
          <a:xfrm>
            <a:off x="8839200" y="3182939"/>
            <a:ext cx="2514600" cy="8429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</a:t>
            </a:r>
            <a:r>
              <a:rPr lang="en-US" sz="20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01864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Naming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can be done on vectors and lists during or after creation.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At creation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c("&lt;name&gt;", = &lt;item&gt;)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or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list("&lt;name&gt;", = &lt;item&gt;)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After: 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names(&lt;object&gt;) &lt;- c("&lt;name&gt;")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4636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&lt;- list("Ch" = "a", "Nm" = 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names(x) &lt;- c("Char", "Num")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x$Char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429000"/>
            <a:ext cx="5156200" cy="812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"a"</a:t>
            </a:r>
          </a:p>
        </p:txBody>
      </p:sp>
    </p:spTree>
    <p:extLst>
      <p:ext uri="{BB962C8B-B14F-4D97-AF65-F5344CB8AC3E}">
        <p14:creationId xmlns:p14="http://schemas.microsoft.com/office/powerpoint/2010/main" val="1745087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scotland.shinyapps.io/phs-rtraining-intro/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+mn-lt"/>
                <a:cs typeface="Calibri Light" panose="020F0302020204030204" pitchFamily="34" charset="0"/>
              </a:rPr>
              <a:t>Data Structures – </a:t>
            </a:r>
            <a:r>
              <a:rPr lang="en-GB">
                <a:latin typeface="+mj-lt"/>
                <a:cs typeface="Calibri Light" panose="020F0302020204030204" pitchFamily="34" charset="0"/>
              </a:rPr>
              <a:t>1</a:t>
            </a:r>
            <a:r>
              <a:rPr lang="en-GB" baseline="30000">
                <a:latin typeface="+mj-lt"/>
                <a:cs typeface="Calibri Light" panose="020F0302020204030204" pitchFamily="34" charset="0"/>
              </a:rPr>
              <a:t>st</a:t>
            </a:r>
            <a:r>
              <a:rPr lang="en-GB">
                <a:latin typeface="+mj-lt"/>
                <a:cs typeface="Calibri Light" panose="020F0302020204030204" pitchFamily="34" charset="0"/>
              </a:rPr>
              <a:t> question “Vectors”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3666084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are used to represent categorical data, with both ordered and unordered variations.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factor(c(...), ordered = &lt;TRUE/FALSE&gt;)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Levels: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factor(c(...), </a:t>
            </a:r>
            <a:b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levels = c(...))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5F2DE-9147-B668-ADFF-B49D7FC04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196" y="1505340"/>
            <a:ext cx="6524040" cy="227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scotland.shinyapps.io/phs-rtraining-intro/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+mn-lt"/>
                <a:cs typeface="Calibri Light" panose="020F0302020204030204" pitchFamily="34" charset="0"/>
              </a:rPr>
              <a:t>Data Structures – 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Question 2 Factors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2618184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expand our dimensions with a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arguments, constructed column-wise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matrix(&lt;data&gt;,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&lt;int&gt;,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&lt;int&gt;)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Access: 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&lt;matrix&gt;[&lt;row&gt;, &lt;col&gt;]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4636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&lt;- matrix(1:6,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x[2, 3]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429000"/>
            <a:ext cx="3556000" cy="1752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		[,1][,2][,3]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[1,]	   1   3   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[2,]	   2   4   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54233E4-5812-D741-AF89-7BDA1D3F21FE}"/>
              </a:ext>
            </a:extLst>
          </p:cNvPr>
          <p:cNvSpPr txBox="1">
            <a:spLocks/>
          </p:cNvSpPr>
          <p:nvPr/>
        </p:nvSpPr>
        <p:spPr>
          <a:xfrm>
            <a:off x="9956800" y="3429000"/>
            <a:ext cx="1397000" cy="838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6</a:t>
            </a:r>
          </a:p>
        </p:txBody>
      </p:sp>
    </p:spTree>
    <p:extLst>
      <p:ext uri="{BB962C8B-B14F-4D97-AF65-F5344CB8AC3E}">
        <p14:creationId xmlns:p14="http://schemas.microsoft.com/office/powerpoint/2010/main" val="2836827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Data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4706"/>
            <a:ext cx="3913094" cy="4769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are used to store tabular data, each column contains one variable, each row contains an observation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("&lt;name&gt;" = &lt;element(s)&gt;)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Subset: </a:t>
            </a:r>
            <a:r>
              <a:rPr lang="en-US">
                <a:solidFill>
                  <a:prstClr val="black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Access: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[[]]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6AA319-BA79-0392-0413-698AABF94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94" y="139328"/>
            <a:ext cx="7440706" cy="63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82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Tibbles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183342"/>
            <a:ext cx="5652248" cy="478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Tibbles are data frames that attempt to make our lives a bit easier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First, load the package: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("&lt;name&gt;" = &lt;element(s)&gt;)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or coerce an existing data frame with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as_tibble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(&lt;object&gt;)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Subset and Access: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[[]]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4636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(name = c("Harry", 					  "Sarah"),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   score = c(62, 91))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429000"/>
            <a:ext cx="5156200" cy="16637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	   name  score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1  Harry	   62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2  Sarah	   91	</a:t>
            </a:r>
          </a:p>
        </p:txBody>
      </p:sp>
    </p:spTree>
    <p:extLst>
      <p:ext uri="{BB962C8B-B14F-4D97-AF65-F5344CB8AC3E}">
        <p14:creationId xmlns:p14="http://schemas.microsoft.com/office/powerpoint/2010/main" val="2503639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rtraining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Data Structures – Question 4 Data Frames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3023370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D498-4FDA-5C44-8222-C0C0210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– the what</a:t>
            </a:r>
          </a:p>
        </p:txBody>
      </p:sp>
    </p:spTree>
    <p:extLst>
      <p:ext uri="{BB962C8B-B14F-4D97-AF65-F5344CB8AC3E}">
        <p14:creationId xmlns:p14="http://schemas.microsoft.com/office/powerpoint/2010/main" val="3828910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Anatomy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91"/>
            <a:ext cx="616169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Functions allow us to bundle code for reuse, taking inputs, doing something to them, then providing outputs.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8C8C9-6FD0-9042-A5C7-B0271522A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9727"/>
            <a:ext cx="6161690" cy="20392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&lt;name&gt; &lt;- function(&lt;inputs…&gt;){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&lt;code&gt;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return(&lt;outputs…&gt;)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8322389-24B4-FD43-9A20-000FFF98B6E4}"/>
              </a:ext>
            </a:extLst>
          </p:cNvPr>
          <p:cNvSpPr txBox="1">
            <a:spLocks/>
          </p:cNvSpPr>
          <p:nvPr/>
        </p:nvSpPr>
        <p:spPr>
          <a:xfrm>
            <a:off x="7430814" y="1797058"/>
            <a:ext cx="3922986" cy="2039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mult_2 &lt;- function(x){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x &lt;- x *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return(x)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E5ED024-FD1C-0F45-A874-3B42440151DF}"/>
              </a:ext>
            </a:extLst>
          </p:cNvPr>
          <p:cNvSpPr txBox="1">
            <a:spLocks/>
          </p:cNvSpPr>
          <p:nvPr/>
        </p:nvSpPr>
        <p:spPr>
          <a:xfrm>
            <a:off x="7430813" y="3942641"/>
            <a:ext cx="1923393" cy="8083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mult_2(4)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A9479D9-9535-E84D-995E-CDA03218B35E}"/>
              </a:ext>
            </a:extLst>
          </p:cNvPr>
          <p:cNvSpPr txBox="1">
            <a:spLocks/>
          </p:cNvSpPr>
          <p:nvPr/>
        </p:nvSpPr>
        <p:spPr>
          <a:xfrm>
            <a:off x="9430407" y="3945290"/>
            <a:ext cx="1923393" cy="8083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8</a:t>
            </a:r>
          </a:p>
        </p:txBody>
      </p:sp>
    </p:spTree>
    <p:extLst>
      <p:ext uri="{BB962C8B-B14F-4D97-AF65-F5344CB8AC3E}">
        <p14:creationId xmlns:p14="http://schemas.microsoft.com/office/powerpoint/2010/main" val="1367993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are used to expand the functionality of R with pre-built functions</a:t>
            </a:r>
          </a:p>
          <a:p>
            <a:pPr marL="0" indent="0">
              <a:buNone/>
            </a:pPr>
            <a:endParaRPr lang="en-US" sz="9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Install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1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1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("&lt;package&gt;")</a:t>
            </a: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Load: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library(&lt;package&gt;)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or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require(&lt;package&gt;)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if loading packages as part of functions as it returns a logical value and a warning if the package isn’t installed.</a:t>
            </a: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9"/>
            <a:ext cx="5156200" cy="1222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E761F2-A3F5-AA40-BE21-B773A3EA831C}"/>
              </a:ext>
            </a:extLst>
          </p:cNvPr>
          <p:cNvSpPr txBox="1">
            <a:spLocks/>
          </p:cNvSpPr>
          <p:nvPr/>
        </p:nvSpPr>
        <p:spPr>
          <a:xfrm>
            <a:off x="6197600" y="3182939"/>
            <a:ext cx="5156200" cy="26522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Char char="-"/>
            </a:pPr>
            <a:r>
              <a:rPr lang="en-US" sz="2400" i="1">
                <a:latin typeface="Calibri Light" panose="020F0302020204030204" pitchFamily="34" charset="0"/>
                <a:cs typeface="Calibri Light" panose="020F0302020204030204" pitchFamily="34" charset="0"/>
              </a:rPr>
              <a:t>output varies by package, warnings (not errors) are normal. An example would be where a function ‘masks’ that of another R function.</a:t>
            </a:r>
          </a:p>
          <a:p>
            <a:pPr marL="342900" lvl="1" indent="0">
              <a:buNone/>
            </a:pPr>
            <a:endParaRPr lang="en-US" sz="2400" i="1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Help with </a:t>
            </a:r>
            <a:r>
              <a:rPr lang="en-US">
                <a:latin typeface="+mj-lt"/>
                <a:cs typeface="Calibri Light" panose="020F0302020204030204" pitchFamily="34" charset="0"/>
              </a:rPr>
              <a:t>loading packages: </a:t>
            </a:r>
            <a:r>
              <a:rPr lang="en-GB">
                <a:latin typeface="+mj-lt"/>
                <a:hlinkClick r:id="rId3"/>
              </a:rPr>
              <a:t>PHS Data Science - Knowledge Base (public-health-scotland.github.io)</a:t>
            </a:r>
            <a:endParaRPr lang="en-US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76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Control Flow -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library(dplyr)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if_else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(&lt;condition&gt;, &lt;if true do this&gt;, &lt;if false do this&gt;)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4815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library(dplyr)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&lt;- 5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if_else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 &gt; 10, TRUE, FALSE)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6197600" y="3550799"/>
            <a:ext cx="5156200" cy="8083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FALSE</a:t>
            </a:r>
          </a:p>
        </p:txBody>
      </p:sp>
    </p:spTree>
    <p:extLst>
      <p:ext uri="{BB962C8B-B14F-4D97-AF65-F5344CB8AC3E}">
        <p14:creationId xmlns:p14="http://schemas.microsoft.com/office/powerpoint/2010/main" val="2200103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scotland.shinyapps.io/phs-rtraining-intro/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Control Flow – Question 1 If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1088250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Control Flow - case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library(dplyr)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case_when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(&lt;condition&gt; ~ &lt;result&gt;)</a:t>
            </a:r>
          </a:p>
          <a:p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To set everything else at the end use the condition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TRUE ~ &lt;result&gt;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5883190" y="1285434"/>
            <a:ext cx="5359400" cy="1916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library(dplyr)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 &lt;- c(1, 2, 3, 4, 5)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case_when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(x &lt; 3 ~ "LT3",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 x %% 2 == 0 ~ "Even")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3091B1-7149-E349-8E86-7CF488BA2FC4}"/>
              </a:ext>
            </a:extLst>
          </p:cNvPr>
          <p:cNvSpPr txBox="1">
            <a:spLocks/>
          </p:cNvSpPr>
          <p:nvPr/>
        </p:nvSpPr>
        <p:spPr>
          <a:xfrm>
            <a:off x="5883190" y="3336426"/>
            <a:ext cx="5359400" cy="8530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"LT3" "LT3" NA "Even" 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C54DC-4266-6F4E-B29F-269C4457C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190" y="4324398"/>
            <a:ext cx="4846542" cy="160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75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Control Flow - case statements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D91B66-BD2C-CB4E-A266-E54A1A260C89}"/>
              </a:ext>
            </a:extLst>
          </p:cNvPr>
          <p:cNvGrpSpPr/>
          <p:nvPr/>
        </p:nvGrpSpPr>
        <p:grpSpPr>
          <a:xfrm>
            <a:off x="2630393" y="1848646"/>
            <a:ext cx="9381805" cy="2009172"/>
            <a:chOff x="459891" y="1828800"/>
            <a:chExt cx="11272218" cy="2414016"/>
          </a:xfrm>
        </p:grpSpPr>
        <p:pic>
          <p:nvPicPr>
            <p:cNvPr id="11" name="Picture 10" descr="Diagram&#10;&#10;Description automatically generated">
              <a:extLst>
                <a:ext uri="{FF2B5EF4-FFF2-40B4-BE49-F238E27FC236}">
                  <a16:creationId xmlns:a16="http://schemas.microsoft.com/office/drawing/2014/main" id="{99581C8C-896F-9949-8569-662D4E89B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67" b="55200"/>
            <a:stretch/>
          </p:blipFill>
          <p:spPr>
            <a:xfrm>
              <a:off x="459891" y="1984248"/>
              <a:ext cx="11272218" cy="225856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D81E4B-7CEC-EF43-B575-1DAB2C9B19EF}"/>
                </a:ext>
              </a:extLst>
            </p:cNvPr>
            <p:cNvSpPr/>
            <p:nvPr/>
          </p:nvSpPr>
          <p:spPr>
            <a:xfrm>
              <a:off x="969264" y="1828800"/>
              <a:ext cx="6537960" cy="5394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826EE37-74C3-E246-A445-AEDC1874A85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71" b="80882"/>
          <a:stretch/>
        </p:blipFill>
        <p:spPr>
          <a:xfrm>
            <a:off x="621792" y="1252856"/>
            <a:ext cx="4700016" cy="875669"/>
          </a:xfrm>
          <a:prstGeom prst="rect">
            <a:avLst/>
          </a:prstGeom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C4C09120-14DF-8E4D-8509-70A36008A55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81"/>
          <a:stretch/>
        </p:blipFill>
        <p:spPr>
          <a:xfrm>
            <a:off x="405027" y="3595558"/>
            <a:ext cx="6654141" cy="226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49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scotland.shinyapps.io/phs-rtraining-intro/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Control Flow – Question 2 Case</a:t>
            </a: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2933258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Iteration –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8"/>
            <a:ext cx="4332890" cy="400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allowing us to do the same thing repeatedly with different inputs.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for(&lt;value&gt; in &lt;sequence&gt;) {&lt;statement&gt;}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5475889" y="3429000"/>
            <a:ext cx="5877910" cy="23259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files &lt;-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list.files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(pattern = “.csv”)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all_files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list()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seq_along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(files))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all_files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]] &lt;-    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(files[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463C-BE5D-2814-E8AF-FD2F7D56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869" y="889474"/>
            <a:ext cx="4819428" cy="22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63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Iteration – for loop</a:t>
            </a:r>
          </a:p>
        </p:txBody>
      </p:sp>
      <p:pic>
        <p:nvPicPr>
          <p:cNvPr id="8" name="Picture 7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117E4509-286D-0B42-949E-F061BC0D9C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9" t="2908" r="7435" b="7289"/>
          <a:stretch/>
        </p:blipFill>
        <p:spPr>
          <a:xfrm>
            <a:off x="2617828" y="1384300"/>
            <a:ext cx="6956343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81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0B2-3A5B-554B-83FC-910722A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Iteration – loop with </a:t>
            </a:r>
            <a:r>
              <a:rPr lang="en-US" err="1">
                <a:solidFill>
                  <a:srgbClr val="423583"/>
                </a:solidFill>
              </a:rPr>
              <a:t>purrr</a:t>
            </a:r>
            <a:endParaRPr lang="en-US">
              <a:solidFill>
                <a:srgbClr val="42358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B04C-1C77-2D4D-A505-5DEAECF56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8"/>
            <a:ext cx="4553606" cy="400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purrr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Load: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purrr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map(&lt;object&gt;, &lt;function&gt;)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59F1FA8-8D29-714F-BD44-413ACFA184EB}"/>
              </a:ext>
            </a:extLst>
          </p:cNvPr>
          <p:cNvSpPr txBox="1">
            <a:spLocks/>
          </p:cNvSpPr>
          <p:nvPr/>
        </p:nvSpPr>
        <p:spPr>
          <a:xfrm>
            <a:off x="5391807" y="2174570"/>
            <a:ext cx="5825359" cy="11869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purrr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files &lt;-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list.files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(pattern = “.csv”)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all_files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map(files,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447D2-D362-AA4C-BE05-419358C5A2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155" y="3429000"/>
            <a:ext cx="403569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3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1E64-726D-2249-A2D7-B17456FF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Rstudio</a:t>
            </a:r>
            <a:r>
              <a:rPr lang="en-US"/>
              <a:t> and Posit Workbench</a:t>
            </a:r>
          </a:p>
        </p:txBody>
      </p:sp>
    </p:spTree>
    <p:extLst>
      <p:ext uri="{BB962C8B-B14F-4D97-AF65-F5344CB8AC3E}">
        <p14:creationId xmlns:p14="http://schemas.microsoft.com/office/powerpoint/2010/main" val="1816922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47BA9-0796-4E01-7062-CDE69C67C0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9" b="5345"/>
          <a:stretch/>
        </p:blipFill>
        <p:spPr>
          <a:xfrm>
            <a:off x="1914989" y="0"/>
            <a:ext cx="8362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95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5FCDE3D-7B59-6A42-ADC3-E85589C37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4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Posit Workbench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9553"/>
            <a:ext cx="10815918" cy="53633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>
                <a:latin typeface="+mn-lt"/>
                <a:cs typeface="Calibri Light" panose="020F0302020204030204" pitchFamily="34" charset="0"/>
              </a:rPr>
              <a:t>We don’t generally work on desktop, we work remotely using Posit Workbench: </a:t>
            </a:r>
            <a:r>
              <a:rPr lang="en-GB">
                <a:latin typeface="+mn-lt"/>
                <a:hlinkClick r:id="rId3"/>
              </a:rPr>
              <a:t>RStudio Sign In (publichealthscotland.org)</a:t>
            </a:r>
            <a:endParaRPr lang="en-US">
              <a:latin typeface="+mn-lt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Faster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More computing power than your laptop when you need it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More Secure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Can be used to </a:t>
            </a:r>
            <a:r>
              <a:rPr lang="en-US" err="1">
                <a:latin typeface="Calibri Light" panose="020F0302020204030204" pitchFamily="34" charset="0"/>
                <a:cs typeface="Calibri Light" panose="020F0302020204030204" pitchFamily="34" charset="0"/>
              </a:rPr>
              <a:t>analyse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confidential datasets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info - </a:t>
            </a:r>
            <a:r>
              <a:rPr lang="en-GB">
                <a:latin typeface="+mj-lt"/>
                <a:hlinkClick r:id="rId4"/>
              </a:rPr>
              <a:t>PHS Data Science - Knowledge Base (public-health-scotland.github.io)</a:t>
            </a:r>
            <a:endParaRPr lang="en-US">
              <a:solidFill>
                <a:prstClr val="black"/>
              </a:solidFill>
              <a:latin typeface="+mj-lt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Quick Start Guide 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–</a:t>
            </a:r>
            <a:r>
              <a:rPr lang="en-US">
                <a:solidFill>
                  <a:prstClr val="black"/>
                </a:solidFill>
                <a:latin typeface="+mj-lt"/>
                <a:cs typeface="Calibri Light" panose="020F0302020204030204" pitchFamily="34" charset="0"/>
              </a:rPr>
              <a:t> </a:t>
            </a:r>
            <a:r>
              <a:rPr lang="en-GB">
                <a:latin typeface="+mj-lt"/>
                <a:hlinkClick r:id="rId5"/>
              </a:rPr>
              <a:t>PHS Data Science - Knowledge Base (public-health-scotland.github.io)</a:t>
            </a:r>
            <a:endParaRPr lang="en-US">
              <a:solidFill>
                <a:prstClr val="black"/>
              </a:solidFill>
              <a:highlight>
                <a:srgbClr val="C0C0C0"/>
              </a:highlight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24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Posit Workbench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0160"/>
            <a:ext cx="10792968" cy="488289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Close Sessions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leaving sessions open or running multiple sessions uses resource - when finished, close it down using the red power button in top right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2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 Data Properly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projects and files shouldn’t be stored in your ‘home’ drive and unused data should be removed from your environment, use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rm(list = ls())</a:t>
            </a:r>
            <a:r>
              <a:rPr lang="en-US">
                <a:solidFill>
                  <a:prstClr val="black"/>
                </a:solidFill>
                <a:highlight>
                  <a:srgbClr val="C0C0C0"/>
                </a:highlight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 clear anything</a:t>
            </a:r>
            <a:b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20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Retrieve Data Efficiently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limit the data extracted using well written SQL  </a:t>
            </a:r>
            <a:endParaRPr lang="en-US">
              <a:solidFill>
                <a:prstClr val="black"/>
              </a:solidFill>
              <a:highlight>
                <a:srgbClr val="C0C0C0"/>
              </a:highlight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Further Guidance </a:t>
            </a:r>
            <a:r>
              <a:rPr lang="en-US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–</a:t>
            </a:r>
            <a:r>
              <a:rPr lang="en-US">
                <a:solidFill>
                  <a:prstClr val="black"/>
                </a:solidFill>
                <a:latin typeface="+mj-lt"/>
                <a:cs typeface="Calibri Light" panose="020F0302020204030204" pitchFamily="34" charset="0"/>
              </a:rPr>
              <a:t> </a:t>
            </a:r>
            <a:r>
              <a:rPr lang="en-GB">
                <a:latin typeface="+mj-lt"/>
                <a:hlinkClick r:id="rId3"/>
              </a:rPr>
              <a:t>PHS Data Science - Knowledge Base (public-health-scotland.github.io)</a:t>
            </a:r>
            <a:endParaRPr lang="en-US">
              <a:solidFill>
                <a:prstClr val="black"/>
              </a:solidFill>
              <a:highlight>
                <a:srgbClr val="C0C0C0"/>
              </a:highlight>
              <a:latin typeface="+mj-lt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AC7B6-0059-7945-BB7B-6703E8CF9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227" y="1910398"/>
            <a:ext cx="877145" cy="87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59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6294-C8CA-524E-A0C0-EE6579E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5A95-6437-D046-B5A0-F1B9B0260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4957119" cy="400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keeps work separate, giving a project its own working directory, workspace, and history.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Opening an .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</a:rPr>
              <a:t>Rproj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file will:</a:t>
            </a:r>
          </a:p>
          <a:p>
            <a:pPr lvl="1"/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Start a new R session</a:t>
            </a:r>
          </a:p>
          <a:p>
            <a:pPr lvl="1"/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project specifics and settings</a:t>
            </a:r>
          </a:p>
          <a:p>
            <a:pPr lvl="1"/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The project directory is set as the current working directory.</a:t>
            </a:r>
          </a:p>
          <a:p>
            <a:pPr lvl="1"/>
            <a:endParaRPr lang="en-US" sz="80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Create: 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available in the Projects menu or global toolbar.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107E0-5595-554D-B170-4C6A97848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1022805"/>
            <a:ext cx="5460462" cy="40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9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6294-C8CA-524E-A0C0-EE6579E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5A95-6437-D046-B5A0-F1B9B0260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4957119" cy="400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Guidance for working with projects in Posit: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+mj-lt"/>
                <a:cs typeface="Calibri" panose="020F0502020204030204" pitchFamily="34" charset="0"/>
              </a:rPr>
              <a:t> </a:t>
            </a:r>
            <a:endParaRPr lang="en-US">
              <a:highlight>
                <a:srgbClr val="C0C0C0"/>
              </a:highlight>
              <a:latin typeface="+mj-lt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>
                <a:solidFill>
                  <a:srgbClr val="0056B3"/>
                </a:solidFill>
                <a:effectLst/>
                <a:latin typeface="+mj-lt"/>
                <a:hlinkClick r:id="rId3"/>
              </a:rPr>
              <a:t>What is a project (in Posit Workbench)?</a:t>
            </a:r>
            <a:endParaRPr lang="en-GB" b="0" i="0" u="sng">
              <a:solidFill>
                <a:srgbClr val="0056B3"/>
              </a:solidFill>
              <a:effectLst/>
              <a:latin typeface="+mj-lt"/>
            </a:endParaRPr>
          </a:p>
          <a:p>
            <a:pPr marL="0" indent="0" algn="l">
              <a:buNone/>
            </a:pPr>
            <a:endParaRPr lang="en-GB" b="0" i="0">
              <a:solidFill>
                <a:srgbClr val="212529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7BFF"/>
                </a:solidFill>
                <a:effectLst/>
                <a:latin typeface="+mj-lt"/>
                <a:hlinkClick r:id="rId4"/>
              </a:rPr>
              <a:t>How do I open or switch to another project?</a:t>
            </a:r>
            <a:endParaRPr lang="en-GB" b="0" i="0">
              <a:solidFill>
                <a:srgbClr val="212529"/>
              </a:solidFill>
              <a:effectLst/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107E0-5595-554D-B170-4C6A97848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1022805"/>
            <a:ext cx="5460462" cy="40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11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2353-816E-2C42-90C8-C26521F0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3022562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6294-C8CA-524E-A0C0-EE6579E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5A95-6437-D046-B5A0-F1B9B0260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55059"/>
            <a:ext cx="5753847" cy="5056093"/>
          </a:xfrm>
        </p:spPr>
        <p:txBody>
          <a:bodyPr>
            <a:normAutofit fontScale="85000" lnSpcReduction="20000"/>
          </a:bodyPr>
          <a:lstStyle/>
          <a:p>
            <a:r>
              <a:rPr lang="en-US" sz="2600">
                <a:latin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en-US" sz="260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26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getwd</a:t>
            </a:r>
            <a:r>
              <a:rPr lang="en-US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60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>
                <a:latin typeface="Calibri" panose="020F0502020204030204" pitchFamily="34" charset="0"/>
                <a:cs typeface="Calibri" panose="020F0502020204030204" pitchFamily="34" charset="0"/>
              </a:rPr>
              <a:t>Set new: </a:t>
            </a:r>
            <a:r>
              <a:rPr lang="en-US" sz="26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n-US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US" sz="26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endParaRPr lang="en-GB" sz="2600"/>
          </a:p>
          <a:p>
            <a:r>
              <a:rPr lang="en-GB" sz="2600">
                <a:latin typeface="Calibri Light" panose="020F0302020204030204" pitchFamily="34" charset="0"/>
                <a:cs typeface="Calibri Light" panose="020F0302020204030204" pitchFamily="34" charset="0"/>
              </a:rPr>
              <a:t>We can also use the </a:t>
            </a:r>
            <a:r>
              <a:rPr lang="en-GB" sz="2600">
                <a:latin typeface="Courier New" panose="02070309020205020404" pitchFamily="49" charset="0"/>
                <a:cs typeface="Courier New" panose="02070309020205020404" pitchFamily="49" charset="0"/>
              </a:rPr>
              <a:t>here</a:t>
            </a:r>
            <a:r>
              <a:rPr lang="en-GB" sz="2600">
                <a:latin typeface="Calibri Light" panose="020F0302020204030204" pitchFamily="34" charset="0"/>
                <a:cs typeface="Calibri Light" panose="020F0302020204030204" pitchFamily="34" charset="0"/>
              </a:rPr>
              <a:t> package, with </a:t>
            </a:r>
            <a:r>
              <a:rPr lang="en-GB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here()</a:t>
            </a:r>
          </a:p>
          <a:p>
            <a:endParaRPr lang="en-GB" sz="26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 sz="2600">
                <a:latin typeface="Calibri Light" panose="020F0302020204030204" pitchFamily="34" charset="0"/>
                <a:cs typeface="Calibri Light" panose="020F0302020204030204" pitchFamily="34" charset="0"/>
              </a:rPr>
              <a:t>File paths use forward slashes /</a:t>
            </a:r>
          </a:p>
          <a:p>
            <a:endParaRPr lang="en-GB" sz="26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 sz="2600" err="1">
                <a:latin typeface="Calibri Light" panose="020F0302020204030204" pitchFamily="34" charset="0"/>
                <a:cs typeface="Calibri Light" panose="020F0302020204030204" pitchFamily="34" charset="0"/>
              </a:rPr>
              <a:t>Rstudio</a:t>
            </a:r>
            <a:r>
              <a:rPr lang="en-GB" sz="2600">
                <a:latin typeface="Calibri Light" panose="020F0302020204030204" pitchFamily="34" charset="0"/>
                <a:cs typeface="Calibri Light" panose="020F0302020204030204" pitchFamily="34" charset="0"/>
              </a:rPr>
              <a:t> also provides options through the user interface for navigating files and directories.</a:t>
            </a:r>
          </a:p>
          <a:p>
            <a:pPr marL="0" indent="0">
              <a:buNone/>
            </a:pPr>
            <a:endParaRPr lang="en-GB" sz="26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 sz="2600">
                <a:latin typeface="Calibri Light" panose="020F0302020204030204" pitchFamily="34" charset="0"/>
                <a:cs typeface="Calibri Light" panose="020F0302020204030204" pitchFamily="34" charset="0"/>
              </a:rPr>
              <a:t>File paths on server are slightly different than they appear in file explorer: </a:t>
            </a:r>
            <a:r>
              <a:rPr lang="en-US" sz="26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n-US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US" sz="26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PHI_conf</a:t>
            </a:r>
            <a:r>
              <a:rPr lang="en-US" sz="26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/")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420E892-FC70-AD42-9D6C-0039C5155561}"/>
              </a:ext>
            </a:extLst>
          </p:cNvPr>
          <p:cNvSpPr txBox="1">
            <a:spLocks/>
          </p:cNvSpPr>
          <p:nvPr/>
        </p:nvSpPr>
        <p:spPr>
          <a:xfrm>
            <a:off x="6592047" y="1411753"/>
            <a:ext cx="5331011" cy="24608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("/home/learnr01/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intro_R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getwd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here()</a:t>
            </a:r>
          </a:p>
          <a:p>
            <a:pPr marL="0" indent="0">
              <a:buNone/>
            </a:pP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# on posit workbench: 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PHI_conf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/")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5481DF6-F12C-4E40-8FDD-19876BD33E5C}"/>
              </a:ext>
            </a:extLst>
          </p:cNvPr>
          <p:cNvSpPr txBox="1">
            <a:spLocks/>
          </p:cNvSpPr>
          <p:nvPr/>
        </p:nvSpPr>
        <p:spPr>
          <a:xfrm>
            <a:off x="6766858" y="4269164"/>
            <a:ext cx="5156200" cy="11795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"/home/learnr01/</a:t>
            </a:r>
            <a:r>
              <a:rPr lang="en-US" sz="20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intro_R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[1] "/home/learnr01/</a:t>
            </a:r>
            <a:r>
              <a:rPr lang="en-US" sz="20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intro_R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24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6294-C8CA-524E-A0C0-EE6579E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Working Directory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828A8A09-AEB2-494A-AC0F-0C6EBB0D3D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0" t="21007" b="7783"/>
          <a:stretch/>
        </p:blipFill>
        <p:spPr>
          <a:xfrm>
            <a:off x="5711600" y="1128714"/>
            <a:ext cx="5387068" cy="40767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5522865D-E631-8247-AB3A-C8C8F9FC7D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8584" r="63549" b="29357"/>
          <a:stretch/>
        </p:blipFill>
        <p:spPr>
          <a:xfrm>
            <a:off x="1308100" y="1652586"/>
            <a:ext cx="3266168" cy="355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527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2936"/>
            <a:ext cx="5156200" cy="4009567"/>
          </a:xfrm>
        </p:spPr>
        <p:txBody>
          <a:bodyPr/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Read: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609976" y="460101"/>
            <a:ext cx="5156200" cy="1938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  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("data/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Borders.csv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View(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35248-35DC-DBDB-4DA3-B39FD7AE2A5F}"/>
              </a:ext>
            </a:extLst>
          </p:cNvPr>
          <p:cNvSpPr txBox="1">
            <a:spLocks/>
          </p:cNvSpPr>
          <p:nvPr/>
        </p:nvSpPr>
        <p:spPr>
          <a:xfrm>
            <a:off x="6609976" y="2665419"/>
            <a:ext cx="5156200" cy="1523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write_csv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(borders, 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"data/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borders.csv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64DB23-0545-9221-EAB6-5616A32F3B92}"/>
              </a:ext>
            </a:extLst>
          </p:cNvPr>
          <p:cNvSpPr txBox="1">
            <a:spLocks/>
          </p:cNvSpPr>
          <p:nvPr/>
        </p:nvSpPr>
        <p:spPr>
          <a:xfrm>
            <a:off x="6609976" y="4403727"/>
            <a:ext cx="5156200" cy="2406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buNone/>
            </a:pPr>
            <a:r>
              <a:rPr lang="en-US" sz="2400" i="1">
                <a:latin typeface="Calibri Light" panose="020F0302020204030204" pitchFamily="34" charset="0"/>
                <a:cs typeface="Calibri Light" panose="020F0302020204030204" pitchFamily="34" charset="0"/>
              </a:rPr>
              <a:t>- the write functions expect a </a:t>
            </a:r>
            <a:r>
              <a:rPr lang="en-US" sz="2400" i="1" err="1">
                <a:latin typeface="Calibri Light" panose="020F0302020204030204" pitchFamily="34" charset="0"/>
                <a:cs typeface="Calibri Light" panose="020F0302020204030204" pitchFamily="34" charset="0"/>
              </a:rPr>
              <a:t>dataframe</a:t>
            </a:r>
            <a:r>
              <a:rPr lang="en-US" sz="2400" i="1">
                <a:latin typeface="Calibri Light" panose="020F0302020204030204" pitchFamily="34" charset="0"/>
                <a:cs typeface="Calibri Light" panose="020F0302020204030204" pitchFamily="34" charset="0"/>
              </a:rPr>
              <a:t> as the object.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3B1E2-92AD-F611-D562-4E93B61FD533}"/>
              </a:ext>
            </a:extLst>
          </p:cNvPr>
          <p:cNvSpPr txBox="1">
            <a:spLocks/>
          </p:cNvSpPr>
          <p:nvPr/>
        </p:nvSpPr>
        <p:spPr>
          <a:xfrm>
            <a:off x="838200" y="3965348"/>
            <a:ext cx="5156200" cy="4009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Write: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write_csv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(&lt;object&gt;, 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</p:spTree>
    <p:extLst>
      <p:ext uri="{BB962C8B-B14F-4D97-AF65-F5344CB8AC3E}">
        <p14:creationId xmlns:p14="http://schemas.microsoft.com/office/powerpoint/2010/main" val="4051364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XLSX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2936"/>
            <a:ext cx="8503024" cy="4852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+mn-lt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+mn-lt"/>
                <a:cs typeface="Courier New" panose="02070309020205020404" pitchFamily="49" charset="0"/>
              </a:rPr>
              <a:t>openxlsx</a:t>
            </a:r>
            <a:endParaRPr lang="en-GB">
              <a:latin typeface="+mn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latin typeface="+mn-lt"/>
                <a:cs typeface="Courier New" panose="02070309020205020404" pitchFamily="49" charset="0"/>
              </a:rPr>
              <a:t>Read:</a:t>
            </a:r>
            <a:endParaRPr lang="en-GB">
              <a:latin typeface="+mn-lt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openxlsx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read.xlsx(&lt;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  <a:p>
            <a:pPr marL="0" indent="0">
              <a:buNone/>
            </a:pPr>
            <a:r>
              <a:rPr lang="en-GB">
                <a:latin typeface="+mn-lt"/>
                <a:cs typeface="Courier New" panose="02070309020205020404" pitchFamily="49" charset="0"/>
              </a:rPr>
              <a:t>Write:</a:t>
            </a:r>
            <a:endParaRPr lang="en-GB">
              <a:latin typeface="+mn-lt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See next slide for process for building workbook</a:t>
            </a:r>
          </a:p>
          <a:p>
            <a:pPr marL="457200" indent="-457200">
              <a:buAutoNum type="arabicPeriod"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saveWorkbook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</p:spTree>
    <p:extLst>
      <p:ext uri="{BB962C8B-B14F-4D97-AF65-F5344CB8AC3E}">
        <p14:creationId xmlns:p14="http://schemas.microsoft.com/office/powerpoint/2010/main" val="2895312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XLSX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860988" y="1276133"/>
            <a:ext cx="5156200" cy="45688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insert plots/ images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insertImage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sheet = tab1,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file = paste0(output, "image_name.png"),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width = 6, height = 3,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startRow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startCol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save out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saveWorkbook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&lt;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overwrite = TRUE) # save all sheets in the workbook</a:t>
            </a:r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1FA632C-522F-47BB-A971-EBB0D022A20F}"/>
              </a:ext>
            </a:extLst>
          </p:cNvPr>
          <p:cNvSpPr txBox="1">
            <a:spLocks/>
          </p:cNvSpPr>
          <p:nvPr/>
        </p:nvSpPr>
        <p:spPr>
          <a:xfrm>
            <a:off x="838200" y="1276133"/>
            <a:ext cx="5741894" cy="45688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#xlsx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openxlsx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in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data_table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read.xlsx(paste0(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".xlsx"))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##Output workbook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createWorkbook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("xlsx")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create tab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tab1 &lt;-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addWorksheet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"title") # create excel tab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add data to tab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writeData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sheet = tab1,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x = "insert text here",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startCol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startRow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1)</a:t>
            </a:r>
            <a:r>
              <a:rPr lang="en-US" sz="4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002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Read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read_rds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Write</a:t>
            </a: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write_rds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(&lt;object&gt;, 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197600" y="1690692"/>
            <a:ext cx="5156200" cy="3135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borders_RDS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read_rds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("data/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borders.rds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write_rds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(borders,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"data/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borders.rds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284182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Parquet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59541"/>
            <a:ext cx="5879351" cy="50336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Install packages: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("arrow")</a:t>
            </a:r>
          </a:p>
          <a:p>
            <a:pPr marL="0" indent="0">
              <a:buNone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("parallelly")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packages: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library(arrow)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Correctly identify the number of CPUs available to the session</a:t>
            </a:r>
          </a:p>
          <a:p>
            <a:pPr marL="0" indent="0">
              <a:buNone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n_cpus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(parallelly::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availableCores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Write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 arrow::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write_parquet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(&lt;object&gt;, sink = “&lt;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&gt;", compression = "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zstd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Read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arrow::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read_parquet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(“&lt;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FF03B-CB90-CD7F-00BC-7288B5189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522" y="924815"/>
            <a:ext cx="5620534" cy="384863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8730A4-D622-063F-0DEF-78B5DAAAD4A3}"/>
              </a:ext>
            </a:extLst>
          </p:cNvPr>
          <p:cNvSpPr txBox="1">
            <a:spLocks/>
          </p:cNvSpPr>
          <p:nvPr/>
        </p:nvSpPr>
        <p:spPr>
          <a:xfrm>
            <a:off x="6387522" y="4814215"/>
            <a:ext cx="5879351" cy="1479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More info on .parquet files: </a:t>
            </a:r>
            <a:r>
              <a:rPr lang="en-GB">
                <a:hlinkClick r:id="rId4"/>
              </a:rPr>
              <a:t>PHS Data Science - Knowledge Base (public-health-scotland.github.io)</a:t>
            </a:r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527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Read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haven</a:t>
            </a: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library(haven)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read_sav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197600" y="1690691"/>
            <a:ext cx="5156200" cy="19097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library(haven)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borders_spss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  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read_sav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("data/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Borders.sav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View(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borders_spss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66209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Read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The packages/functions used will vary depending on the structure of the data. This example uses a CSV so the process to follow is the same as before.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197600" y="1690692"/>
            <a:ext cx="5156200" cy="2191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hospital_codes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2000">
                <a:latin typeface="Calibri Light" panose="020F0302020204030204" pitchFamily="34" charset="0"/>
                <a:cs typeface="Calibri Light" panose="020F0302020204030204" pitchFamily="34" charset="0"/>
              </a:rPr>
              <a:t> 	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https://www.opendata.nhs.scot/dataset/[...].csv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View(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hospital_codes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4310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Open Data – CKAN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ckanr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ckanr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Set up connection and resource ID</a:t>
            </a:r>
          </a:p>
          <a:p>
            <a:pPr marL="457200" indent="-457200">
              <a:buAutoNum type="arabicPeriod"/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dplyr::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tbl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&gt;, &lt;res&gt;) %&gt;% </a:t>
            </a:r>
            <a:b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as_tibble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197600" y="1690692"/>
            <a:ext cx="5156200" cy="3112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ckanr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ckan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 &lt;- 	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src_ckan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("https://www.openda	ta.nhs.scot")</a:t>
            </a:r>
          </a:p>
          <a:p>
            <a:pPr marL="0" indent="0">
              <a:buNone/>
            </a:pP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res_id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 &lt;- ”&lt;ID&gt;"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resource &lt;- dplyr::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tbl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ckan$con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from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res_id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as_tibble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297626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Open Data – </a:t>
            </a:r>
            <a:r>
              <a:rPr lang="en-GB" err="1">
                <a:solidFill>
                  <a:srgbClr val="423583"/>
                </a:solidFill>
              </a:rPr>
              <a:t>phsopendata</a:t>
            </a:r>
            <a:endParaRPr lang="en-GB">
              <a:solidFill>
                <a:srgbClr val="42358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8686"/>
            <a:ext cx="4911785" cy="457028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>
                <a:latin typeface="Calibri Light"/>
                <a:ea typeface="Calibri Light"/>
                <a:cs typeface="Calibri Light"/>
              </a:rPr>
              <a:t>Package: </a:t>
            </a:r>
            <a:r>
              <a:rPr lang="en-GB" err="1">
                <a:latin typeface="Courier New"/>
                <a:cs typeface="Courier New"/>
              </a:rPr>
              <a:t>phsopendata</a:t>
            </a:r>
            <a:endParaRPr lang="en-GB">
              <a:latin typeface="Courier New"/>
              <a:cs typeface="Courier New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/>
                <a:ea typeface="Calibri Light"/>
                <a:cs typeface="Calibri Light"/>
              </a:rPr>
              <a:t>Load package</a:t>
            </a:r>
            <a:endParaRPr lang="en-GB">
              <a:highlight>
                <a:srgbClr val="C0C0C0"/>
              </a:highlight>
              <a:latin typeface="Courier New"/>
              <a:cs typeface="Courier New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/>
                <a:ea typeface="Calibri Light"/>
                <a:cs typeface="Calibri Light"/>
              </a:rPr>
              <a:t>Get </a:t>
            </a:r>
            <a:r>
              <a:rPr lang="en-GB" err="1">
                <a:latin typeface="Calibri Light"/>
                <a:ea typeface="Calibri Light"/>
                <a:cs typeface="Calibri Light"/>
              </a:rPr>
              <a:t>res_id</a:t>
            </a:r>
            <a:r>
              <a:rPr lang="en-GB">
                <a:latin typeface="Calibri Light"/>
                <a:ea typeface="Calibri Light"/>
                <a:cs typeface="Calibri Light"/>
              </a:rPr>
              <a:t> (unique identifier) for dataset </a:t>
            </a:r>
            <a:r>
              <a:rPr lang="en-GB" b="1">
                <a:latin typeface="Calibri Light"/>
                <a:ea typeface="Calibri Light"/>
                <a:cs typeface="Calibri Light"/>
              </a:rPr>
              <a:t>Health Board 2014 - Health Board 2019</a:t>
            </a:r>
          </a:p>
          <a:p>
            <a:pPr marL="457200" indent="-457200">
              <a:buAutoNum type="arabicPeriod"/>
            </a:pPr>
            <a:r>
              <a:rPr lang="en-GB">
                <a:highlight>
                  <a:srgbClr val="C0C0C0"/>
                </a:highlight>
                <a:latin typeface="Courier New"/>
                <a:cs typeface="Courier New"/>
              </a:rPr>
              <a:t>https://www.opendata.nhs.scot/dataset/geography-codes-and-labels/resource/652ff726-e676-4a20-abda-435b98dd7bdc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/>
                <a:ea typeface="Calibri Light"/>
                <a:cs typeface="Calibri Light"/>
              </a:rPr>
              <a:t>More info: </a:t>
            </a:r>
            <a:r>
              <a:rPr lang="en-GB">
                <a:latin typeface="Arial"/>
                <a:cs typeface="Arial"/>
                <a:hlinkClick r:id="rId3"/>
              </a:rPr>
              <a:t>Public-Health-Scotland/phsopendata: Functions to extract and interact with data from the Scottish Health and Social Care Open Data platform. (github.com)</a:t>
            </a:r>
            <a:endParaRPr lang="en-GB">
              <a:latin typeface="Calibri Light"/>
              <a:ea typeface="Calibri Light" panose="020F0302020204030204" pitchFamily="34" charset="0"/>
              <a:cs typeface="Calibri Ligh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442014" y="1705067"/>
            <a:ext cx="5616275" cy="35294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ourier New"/>
                <a:cs typeface="Courier New"/>
              </a:rPr>
              <a:t>library(</a:t>
            </a:r>
            <a:r>
              <a:rPr lang="en-US" sz="1800" err="1">
                <a:latin typeface="Courier New"/>
                <a:cs typeface="Courier New"/>
              </a:rPr>
              <a:t>phsopendata</a:t>
            </a:r>
            <a:r>
              <a:rPr lang="en-US" sz="1800">
                <a:latin typeface="Courier New"/>
                <a:cs typeface="Courier New"/>
              </a:rPr>
              <a:t>)</a:t>
            </a:r>
            <a:endParaRPr lang="en-US" sz="1800">
              <a:latin typeface="Courier New"/>
            </a:endParaRPr>
          </a:p>
          <a:p>
            <a:pPr>
              <a:buNone/>
            </a:pPr>
            <a:r>
              <a:rPr lang="en-GB" sz="1800">
                <a:latin typeface="Courier New"/>
                <a:ea typeface="Calibri Light"/>
                <a:cs typeface="Arial"/>
              </a:rPr>
              <a:t># </a:t>
            </a:r>
            <a:r>
              <a:rPr lang="en-GB" sz="1800">
                <a:latin typeface="Courier New"/>
                <a:ea typeface="Calibri Light"/>
                <a:cs typeface="Calibri Light"/>
              </a:rPr>
              <a:t>Import dataset </a:t>
            </a:r>
          </a:p>
          <a:p>
            <a:pPr>
              <a:spcBef>
                <a:spcPts val="0"/>
              </a:spcBef>
              <a:buNone/>
            </a:pPr>
            <a:r>
              <a:rPr lang="en-GB" sz="1800" err="1">
                <a:latin typeface="Courier New"/>
                <a:ea typeface="Calibri Light"/>
                <a:cs typeface="Calibri Light"/>
              </a:rPr>
              <a:t>hb_lookup</a:t>
            </a:r>
            <a:r>
              <a:rPr lang="en-GB" sz="1800">
                <a:latin typeface="Courier New"/>
                <a:ea typeface="Calibri Light"/>
                <a:cs typeface="Calibri Light"/>
              </a:rPr>
              <a:t> &lt;- </a:t>
            </a:r>
            <a:r>
              <a:rPr lang="en-GB" sz="1800" err="1">
                <a:latin typeface="Courier New"/>
                <a:ea typeface="Calibri Light"/>
                <a:cs typeface="Calibri Light"/>
              </a:rPr>
              <a:t>get_resource</a:t>
            </a:r>
            <a:r>
              <a:rPr lang="en-GB" sz="1800">
                <a:latin typeface="Courier New"/>
                <a:ea typeface="Calibri Light"/>
                <a:cs typeface="Calibri Light"/>
              </a:rPr>
              <a:t>( </a:t>
            </a:r>
            <a:endParaRPr lang="en-US" sz="1800">
              <a:latin typeface="Courier New"/>
              <a:ea typeface="Calibri Light"/>
              <a:cs typeface="Calibri Light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800">
                <a:latin typeface="Courier New"/>
                <a:ea typeface="Calibri Light"/>
                <a:cs typeface="Calibri Light"/>
              </a:rPr>
              <a:t> </a:t>
            </a:r>
            <a:r>
              <a:rPr lang="en-GB" sz="1800" err="1">
                <a:latin typeface="Courier New"/>
                <a:ea typeface="Calibri Light"/>
                <a:cs typeface="Calibri Light"/>
              </a:rPr>
              <a:t>res_id</a:t>
            </a:r>
            <a:r>
              <a:rPr lang="en-GB" sz="1800">
                <a:latin typeface="Courier New"/>
                <a:ea typeface="Calibri Light"/>
                <a:cs typeface="Calibri Light"/>
              </a:rPr>
              <a:t> = "652ff726-e676-4a20-abda-435b98dd7bdc")</a:t>
            </a:r>
            <a:endParaRPr lang="en-US" sz="1800">
              <a:latin typeface="Courier New"/>
              <a:ea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  <a:buNone/>
            </a:pPr>
            <a:r>
              <a:rPr lang="en-GB" sz="1800">
                <a:latin typeface="Courier New"/>
                <a:ea typeface="Calibri Light"/>
                <a:cs typeface="Arial"/>
              </a:rPr>
              <a:t># Only import columns for  health board name and 9-digit code for the same dataset</a:t>
            </a:r>
            <a:endParaRPr lang="en-GB" sz="1800">
              <a:latin typeface="Courier New"/>
              <a:ea typeface="Calibri Light"/>
            </a:endParaRPr>
          </a:p>
          <a:p>
            <a:pPr>
              <a:spcBef>
                <a:spcPts val="0"/>
              </a:spcBef>
              <a:buNone/>
            </a:pPr>
            <a:r>
              <a:rPr lang="en-GB" sz="1800" err="1">
                <a:latin typeface="Courier New"/>
                <a:ea typeface="Calibri Light"/>
                <a:cs typeface="Calibri Light"/>
              </a:rPr>
              <a:t>hb_lookup</a:t>
            </a:r>
            <a:r>
              <a:rPr lang="en-GB" sz="1800">
                <a:latin typeface="Courier New"/>
                <a:ea typeface="Calibri Light"/>
                <a:cs typeface="Calibri Light"/>
              </a:rPr>
              <a:t> &lt;- </a:t>
            </a:r>
            <a:r>
              <a:rPr lang="en-GB" sz="1800" err="1">
                <a:latin typeface="Courier New"/>
                <a:ea typeface="Calibri Light"/>
                <a:cs typeface="Calibri Light"/>
              </a:rPr>
              <a:t>get_resource</a:t>
            </a:r>
            <a:r>
              <a:rPr lang="en-GB" sz="1800">
                <a:latin typeface="Courier New"/>
                <a:ea typeface="Calibri Light"/>
                <a:cs typeface="Calibri Light"/>
              </a:rPr>
              <a:t>( </a:t>
            </a:r>
            <a:endParaRPr lang="en-GB" sz="1800">
              <a:latin typeface="Courier New"/>
              <a:ea typeface="Calibri Light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GB" sz="1800">
                <a:latin typeface="Courier New"/>
                <a:ea typeface="Calibri Light"/>
                <a:cs typeface="Calibri Light"/>
              </a:rPr>
              <a:t>  </a:t>
            </a:r>
            <a:r>
              <a:rPr lang="en-GB" sz="1800" err="1">
                <a:latin typeface="Courier New"/>
                <a:ea typeface="Calibri Light"/>
                <a:cs typeface="Calibri Light"/>
              </a:rPr>
              <a:t>res_id</a:t>
            </a:r>
            <a:r>
              <a:rPr lang="en-GB" sz="1800">
                <a:latin typeface="Courier New"/>
                <a:ea typeface="Calibri Light"/>
                <a:cs typeface="Calibri Light"/>
              </a:rPr>
              <a:t> = "652ff726-e676-4a20-abda-435b98dd7bdc",</a:t>
            </a:r>
            <a:endParaRPr lang="en-GB" sz="1800">
              <a:latin typeface="Courier New"/>
              <a:ea typeface="Calibri Light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GB" sz="1800">
                <a:latin typeface="Courier New"/>
                <a:ea typeface="Calibri Light"/>
                <a:cs typeface="Arial"/>
              </a:rPr>
              <a:t>  </a:t>
            </a:r>
            <a:r>
              <a:rPr lang="en-GB" sz="1800" err="1">
                <a:latin typeface="Courier New"/>
                <a:ea typeface="Calibri Light"/>
                <a:cs typeface="Arial"/>
              </a:rPr>
              <a:t>col_select</a:t>
            </a:r>
            <a:r>
              <a:rPr lang="en-GB" sz="1800">
                <a:latin typeface="Courier New"/>
                <a:ea typeface="Calibri Light"/>
                <a:cs typeface="Arial"/>
              </a:rPr>
              <a:t> = c("HB", "</a:t>
            </a:r>
            <a:r>
              <a:rPr lang="en-GB" sz="1800" err="1">
                <a:latin typeface="Courier New"/>
                <a:ea typeface="Calibri Light"/>
                <a:cs typeface="Arial"/>
              </a:rPr>
              <a:t>HBName</a:t>
            </a:r>
            <a:r>
              <a:rPr lang="en-GB" sz="1800">
                <a:latin typeface="Courier New"/>
                <a:ea typeface="Calibri Light"/>
                <a:cs typeface="Arial"/>
              </a:rPr>
              <a:t>"))</a:t>
            </a:r>
          </a:p>
        </p:txBody>
      </p:sp>
    </p:spTree>
    <p:extLst>
      <p:ext uri="{BB962C8B-B14F-4D97-AF65-F5344CB8AC3E}">
        <p14:creationId xmlns:p14="http://schemas.microsoft.com/office/powerpoint/2010/main" val="10651196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Database (SMRA)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10515599" cy="400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Package: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odbc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Load package,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odbc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Connect: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smra_connection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dbConnect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drv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odbc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b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dsn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"SMRA", </a:t>
            </a:r>
            <a:b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.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rs.askForPassword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("SMRA Username:"), </a:t>
            </a:r>
            <a:b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.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rs.askForPassword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("SMRA Password:"))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Extract: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smr01 &lt;- 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dbGetQuery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smra_connection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paste("&lt;</a:t>
            </a:r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&gt;"))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Check output</a:t>
            </a:r>
          </a:p>
        </p:txBody>
      </p:sp>
    </p:spTree>
    <p:extLst>
      <p:ext uri="{BB962C8B-B14F-4D97-AF65-F5344CB8AC3E}">
        <p14:creationId xmlns:p14="http://schemas.microsoft.com/office/powerpoint/2010/main" val="1280593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Guidance on Filetypes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10515599" cy="4009567"/>
          </a:xfrm>
        </p:spPr>
        <p:txBody>
          <a:bodyPr>
            <a:normAutofit/>
          </a:bodyPr>
          <a:lstStyle/>
          <a:p>
            <a:r>
              <a:rPr lang="en-GB" sz="3200">
                <a:latin typeface="+mn-lt"/>
                <a:hlinkClick r:id="rId3"/>
              </a:rPr>
              <a:t>PHS Data Science - Knowledge Base (public-health-scotland.github.io)</a:t>
            </a:r>
            <a:endParaRPr lang="en-GB" sz="3200">
              <a:latin typeface="+mn-lt"/>
            </a:endParaRPr>
          </a:p>
          <a:p>
            <a:endParaRPr lang="en-GB" sz="3200">
              <a:latin typeface="+mn-lt"/>
              <a:cs typeface="Calibri Light" panose="020F0302020204030204" pitchFamily="34" charset="0"/>
            </a:endParaRPr>
          </a:p>
          <a:p>
            <a:r>
              <a:rPr lang="en-GB" sz="3200">
                <a:latin typeface="+mn-lt"/>
                <a:hlinkClick r:id="rId4"/>
              </a:rPr>
              <a:t>PHS Data Science - Knowledge Base (public-health-scotland.github.io)</a:t>
            </a:r>
            <a:endParaRPr lang="en-GB" sz="3200">
              <a:latin typeface="+mn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6989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6AC7-EE7E-6A4F-B781-ED9328E7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325967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Inspect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6314"/>
            <a:ext cx="5156200" cy="4438881"/>
          </a:xfrm>
        </p:spPr>
        <p:txBody>
          <a:bodyPr>
            <a:normAutofit fontScale="92500" lnSpcReduction="10000"/>
          </a:bodyPr>
          <a:lstStyle/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head()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shows the first few entries or rows of a 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</a:rPr>
              <a:t>tibble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, data frame, matrix, or vector</a:t>
            </a:r>
          </a:p>
          <a:p>
            <a:pPr marL="0" indent="0">
              <a:buNone/>
            </a:pPr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displays the internal structure of an R object, size, column names, data types</a:t>
            </a:r>
          </a:p>
          <a:p>
            <a:endParaRPr lang="en-GB">
              <a:highlight>
                <a:srgbClr val="C0C0C0"/>
              </a:highlight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shows the column names of a 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</a:rPr>
              <a:t>tibble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or data frame</a:t>
            </a: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You can also use the dropdown arrow in the environment pane (top right)</a:t>
            </a:r>
          </a:p>
          <a:p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E329F-AA73-FD56-B491-0092A3E2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612" y="4000252"/>
            <a:ext cx="4938188" cy="2857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7B6C9-F6DA-4051-A8E7-7670850E7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915" y="0"/>
            <a:ext cx="6378512" cy="378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4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9D-CA96-904C-A206-628024AE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Mean/Median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4A5B-2017-8148-A9E9-C495DA22C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9200"/>
            <a:ext cx="5156200" cy="500230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mean()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median()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are passed arrays of values (usually from a data frame) to return the mean and median value</a:t>
            </a:r>
          </a:p>
          <a:p>
            <a:pPr marL="0" indent="0">
              <a:lnSpc>
                <a:spcPct val="120000"/>
              </a:lnSpc>
              <a:buNone/>
            </a:pPr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returns all summary statistics based on a given array (usually from a data frame)</a:t>
            </a:r>
          </a:p>
          <a:p>
            <a:pPr marL="0" indent="0">
              <a:lnSpc>
                <a:spcPct val="120000"/>
              </a:lnSpc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We access columns using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[[]]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or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pPr>
              <a:lnSpc>
                <a:spcPct val="120000"/>
              </a:lnSpc>
            </a:pPr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?&lt;function&gt;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will open the help page for a function in the bottom right window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7B70DB-9942-FD4B-91A7-AB4D6E13F7F2}"/>
              </a:ext>
            </a:extLst>
          </p:cNvPr>
          <p:cNvSpPr txBox="1">
            <a:spLocks/>
          </p:cNvSpPr>
          <p:nvPr/>
        </p:nvSpPr>
        <p:spPr>
          <a:xfrm>
            <a:off x="6197600" y="1690692"/>
            <a:ext cx="5156200" cy="15811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mean(borders[["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"]])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borders$LengthOfStay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AA3C9B3-5CD3-DB4A-8BB2-C87E91BC3255}"/>
              </a:ext>
            </a:extLst>
          </p:cNvPr>
          <p:cNvSpPr txBox="1">
            <a:spLocks/>
          </p:cNvSpPr>
          <p:nvPr/>
        </p:nvSpPr>
        <p:spPr>
          <a:xfrm>
            <a:off x="5598695" y="3429000"/>
            <a:ext cx="5755105" cy="15811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4.297008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</a:t>
            </a:r>
            <a:r>
              <a:rPr lang="en-US" sz="1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Min. 1st Qu. Median   Mean  3rd Qu.  Max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0.000   0.000   1.000  4.297   4.000   458</a:t>
            </a:r>
            <a:endParaRPr lang="en-US" sz="2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3775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6294-C8CA-524E-A0C0-EE6579E6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Frequencies &amp; Crosstabs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5A95-6437-D046-B5A0-F1B9B02609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Frequency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table(&lt;df&gt;$&lt;col&gt;)</a:t>
            </a:r>
            <a:endParaRPr lang="en-US" sz="280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Crosstab: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table(&lt;df&gt;$&lt;col1&gt;, &lt;df&gt;$&lt;col2&gt;)</a:t>
            </a:r>
          </a:p>
          <a:p>
            <a:endParaRPr lang="en-US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To add column and row totals, the function 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can be used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420E892-FC70-AD42-9D6C-0039C5155561}"/>
              </a:ext>
            </a:extLst>
          </p:cNvPr>
          <p:cNvSpPr txBox="1">
            <a:spLocks/>
          </p:cNvSpPr>
          <p:nvPr/>
        </p:nvSpPr>
        <p:spPr>
          <a:xfrm>
            <a:off x="6197600" y="1690692"/>
            <a:ext cx="5156200" cy="11382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(table(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borders$HospitalCode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borders$Sex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5481DF6-F12C-4E40-8FDD-19876BD33E5C}"/>
              </a:ext>
            </a:extLst>
          </p:cNvPr>
          <p:cNvSpPr txBox="1">
            <a:spLocks/>
          </p:cNvSpPr>
          <p:nvPr/>
        </p:nvSpPr>
        <p:spPr>
          <a:xfrm>
            <a:off x="6197600" y="2968624"/>
            <a:ext cx="5156200" cy="21986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1	 2	 3	 Sum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A210H	1	 0	 0	  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B102H   56 </a:t>
            </a:r>
            <a:r>
              <a:rPr lang="en-US" sz="105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	 0	 156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B103H   50 </a:t>
            </a:r>
            <a:r>
              <a:rPr lang="en-US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	 0	 158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	 11947 13340	 2  25289</a:t>
            </a:r>
          </a:p>
        </p:txBody>
      </p:sp>
    </p:spTree>
    <p:extLst>
      <p:ext uri="{BB962C8B-B14F-4D97-AF65-F5344CB8AC3E}">
        <p14:creationId xmlns:p14="http://schemas.microsoft.com/office/powerpoint/2010/main" val="32176582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5891213" cy="400956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Read in "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Borders.csv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" (giving the data frame an appropriate name)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What are the </a:t>
            </a: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mean, median, and max 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values from the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variable? Can you do this in one step?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Produce a </a:t>
            </a: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frequency table 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to check the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variable, save this as an object with an appropriate name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Export the frequency table as a </a:t>
            </a: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csv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file. You’ll need to use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indent="-457200">
              <a:buAutoNum type="arabicPeriod"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22431789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E994-49A3-3A4F-BBB2-0E51DFCD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Wrangle</a:t>
            </a:r>
          </a:p>
        </p:txBody>
      </p:sp>
      <p:pic>
        <p:nvPicPr>
          <p:cNvPr id="4" name="Picture 3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A3582919-784C-654E-8BBD-A1F9405EF8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200" y="2993250"/>
            <a:ext cx="6649999" cy="416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46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712F2F72-C023-2B4C-887E-C83811C37E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3291" r="1433" b="2158"/>
          <a:stretch/>
        </p:blipFill>
        <p:spPr>
          <a:xfrm>
            <a:off x="1764719" y="1225549"/>
            <a:ext cx="8035336" cy="4406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2490D8-5C1B-3748-856E-A8662EC9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Tidy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B3AF8E-0BFD-5529-D6B8-6BF4BDF440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4775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90D8-5C1B-3748-856E-A8662EC9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Tidy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C8340-97C6-5FF4-278F-1C3C98054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652" y="6282264"/>
            <a:ext cx="11874918" cy="421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>
                <a:latin typeface="Calibri Light" panose="020F0302020204030204" pitchFamily="34" charset="0"/>
                <a:cs typeface="Calibri Light" panose="020F0302020204030204" pitchFamily="34" charset="0"/>
              </a:rPr>
              <a:t>From R for data science, 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Hadley Wickham: </a:t>
            </a:r>
            <a:r>
              <a:rPr lang="pt-BR">
                <a:hlinkClick r:id="rId3"/>
              </a:rPr>
              <a:t>R for Data Science (2e) (hadley.nz)</a:t>
            </a:r>
            <a:endParaRPr lang="en-GB" i="1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6" name="Picture 2" descr="Three panels, each representing a tidy data frame. The first panel shows that each variable is a column. The second panel shows that each observation is a row. The third panel shows that each value is a cell.">
            <a:extLst>
              <a:ext uri="{FF2B5EF4-FFF2-40B4-BE49-F238E27FC236}">
                <a16:creationId xmlns:a16="http://schemas.microsoft.com/office/drawing/2014/main" id="{7B1CFB14-9593-E70D-845C-9A96DB575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02" y="3272423"/>
            <a:ext cx="8724398" cy="272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92F63B-2242-B764-56B9-E3254669B6EC}"/>
              </a:ext>
            </a:extLst>
          </p:cNvPr>
          <p:cNvSpPr txBox="1">
            <a:spLocks/>
          </p:cNvSpPr>
          <p:nvPr/>
        </p:nvSpPr>
        <p:spPr>
          <a:xfrm>
            <a:off x="838199" y="1299412"/>
            <a:ext cx="11225464" cy="4523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43A40"/>
                </a:solidFill>
                <a:effectLst/>
                <a:latin typeface="+mj-lt"/>
              </a:rPr>
              <a:t>There are three interrelated rules that make a dataset tidy: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43A40"/>
                </a:solidFill>
                <a:effectLst/>
                <a:latin typeface="+mj-lt"/>
              </a:rPr>
              <a:t>Each variable is a column; each column is a variable.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43A40"/>
                </a:solidFill>
                <a:effectLst/>
                <a:latin typeface="+mj-lt"/>
              </a:rPr>
              <a:t>Each observation is a row; each row is an observation.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43A40"/>
                </a:solidFill>
                <a:effectLst/>
                <a:latin typeface="+mj-lt"/>
              </a:rPr>
              <a:t>Each value is a cell; each cell is a single value.</a:t>
            </a:r>
          </a:p>
        </p:txBody>
      </p:sp>
    </p:spTree>
    <p:extLst>
      <p:ext uri="{BB962C8B-B14F-4D97-AF65-F5344CB8AC3E}">
        <p14:creationId xmlns:p14="http://schemas.microsoft.com/office/powerpoint/2010/main" val="37986985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90D8-5C1B-3748-856E-A8662EC9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Tidyverse</a:t>
            </a:r>
          </a:p>
        </p:txBody>
      </p:sp>
      <p:pic>
        <p:nvPicPr>
          <p:cNvPr id="6" name="Content Placeholder 5" descr="A close up of a sign&#10;&#10;Description automatically generated">
            <a:extLst>
              <a:ext uri="{FF2B5EF4-FFF2-40B4-BE49-F238E27FC236}">
                <a16:creationId xmlns:a16="http://schemas.microsoft.com/office/drawing/2014/main" id="{8FEFBDD9-CF96-3440-8558-366D20E42D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082" y="2151000"/>
            <a:ext cx="2214001" cy="2556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0DE1A-AB16-334C-9056-F2A443844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8"/>
            <a:ext cx="5156200" cy="4009567"/>
          </a:xfrm>
        </p:spPr>
        <p:txBody>
          <a:bodyPr/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is a suite of packages for data exploration, manipulation, and visualisation; it’s best practice to utilise these where possible.</a:t>
            </a: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functions have a consistent format, i.e.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function(data, task)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gives us the package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120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90D8-5C1B-3748-856E-A8662EC9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dplyr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0DE1A-AB16-334C-9056-F2A443844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13607"/>
            <a:ext cx="5848350" cy="1474785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GB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is a grammar of data manipulation, providing a set of "</a:t>
            </a:r>
            <a:r>
              <a:rPr lang="en-GB" i="1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verbs</a:t>
            </a:r>
            <a:r>
              <a:rPr lang="en-GB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(functions) to help solve most data manipulation challenges</a:t>
            </a:r>
            <a:endParaRPr lang="en-GB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library(dplyr)</a:t>
            </a: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 descr="A picture containing monitor, screen, computer, sitting&#10;&#10;Description automatically generated">
            <a:extLst>
              <a:ext uri="{FF2B5EF4-FFF2-40B4-BE49-F238E27FC236}">
                <a16:creationId xmlns:a16="http://schemas.microsoft.com/office/drawing/2014/main" id="{4630E120-504A-A54B-8CD8-00C1F8A5F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330" y="2151000"/>
            <a:ext cx="2207454" cy="2556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E69165D-C6DA-284E-8254-0F6EA9791EB9}"/>
              </a:ext>
            </a:extLst>
          </p:cNvPr>
          <p:cNvSpPr txBox="1">
            <a:spLocks/>
          </p:cNvSpPr>
          <p:nvPr/>
        </p:nvSpPr>
        <p:spPr>
          <a:xfrm>
            <a:off x="838200" y="2928733"/>
            <a:ext cx="5848350" cy="2213100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filter()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mutate()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arrange()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  <a:p>
            <a:r>
              <a:rPr lang="en-GB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summarise()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rename()</a:t>
            </a:r>
          </a:p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recode()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29C246F-81EF-1F24-D51A-3E0107C8CB81}"/>
              </a:ext>
            </a:extLst>
          </p:cNvPr>
          <p:cNvSpPr txBox="1">
            <a:spLocks/>
          </p:cNvSpPr>
          <p:nvPr/>
        </p:nvSpPr>
        <p:spPr>
          <a:xfrm>
            <a:off x="838200" y="5195458"/>
            <a:ext cx="7516906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More </a:t>
            </a:r>
            <a:r>
              <a:rPr lang="en-GB">
                <a:solidFill>
                  <a:prstClr val="black"/>
                </a:solidFill>
                <a:latin typeface="+mj-lt"/>
                <a:cs typeface="Calibri Light" panose="020F0302020204030204" pitchFamily="34" charset="0"/>
              </a:rPr>
              <a:t>info: </a:t>
            </a:r>
            <a:r>
              <a:rPr lang="en-GB">
                <a:latin typeface="+mj-lt"/>
                <a:hlinkClick r:id="rId4"/>
              </a:rPr>
              <a:t>A Grammar of Data Manipulation • </a:t>
            </a:r>
            <a:r>
              <a:rPr lang="en-GB" err="1">
                <a:latin typeface="+mj-lt"/>
                <a:hlinkClick r:id="rId4"/>
              </a:rPr>
              <a:t>dplyr</a:t>
            </a:r>
            <a:r>
              <a:rPr lang="en-GB">
                <a:latin typeface="+mj-lt"/>
                <a:hlinkClick r:id="rId4"/>
              </a:rPr>
              <a:t> (tidyverse.org)</a:t>
            </a:r>
            <a:endParaRPr lang="en-GB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8472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E669-BF95-3B47-909D-2C1DAABC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Pipe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5D06-06F5-054A-8D61-E463A90B2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1442"/>
            <a:ext cx="5158037" cy="4523753"/>
          </a:xfrm>
        </p:spPr>
        <p:txBody>
          <a:bodyPr>
            <a:normAutofit/>
          </a:bodyPr>
          <a:lstStyle/>
          <a:p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is used to link functions together, passing the previous to the next</a:t>
            </a: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Using the pipe operator makes R code more readable and prevents extensive brackets building up with multiple function calls</a:t>
            </a: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Readable as "and then"</a:t>
            </a: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Shortcut: (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+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shift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+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Newer code might write this as |&gt; which is what </a:t>
            </a:r>
            <a:r>
              <a:rPr lang="en-GB" err="1">
                <a:latin typeface="Calibri Light" panose="020F0302020204030204" pitchFamily="34" charset="0"/>
                <a:cs typeface="Calibri Light" panose="020F0302020204030204" pitchFamily="34" charset="0"/>
              </a:rPr>
              <a:t>tidyverse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is moving towards, though this can cause issues with older packages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9C76A24-AF5D-A142-B4F2-04BEDF664D34}"/>
              </a:ext>
            </a:extLst>
          </p:cNvPr>
          <p:cNvSpPr txBox="1">
            <a:spLocks/>
          </p:cNvSpPr>
          <p:nvPr/>
        </p:nvSpPr>
        <p:spPr>
          <a:xfrm>
            <a:off x="6195765" y="978568"/>
            <a:ext cx="5867899" cy="19273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arrange(filter(rename(borders,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== "B102H"),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E44AB9B-AD95-3346-8312-DECE91369F0E}"/>
              </a:ext>
            </a:extLst>
          </p:cNvPr>
          <p:cNvSpPr txBox="1">
            <a:spLocks/>
          </p:cNvSpPr>
          <p:nvPr/>
        </p:nvSpPr>
        <p:spPr>
          <a:xfrm>
            <a:off x="5534526" y="3067639"/>
            <a:ext cx="6529138" cy="2257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rename(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filter(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== "B102H")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arrange(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88354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E669-BF95-3B47-909D-2C1DAABC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Pipe Operator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E44AB9B-AD95-3346-8312-DECE91369F0E}"/>
              </a:ext>
            </a:extLst>
          </p:cNvPr>
          <p:cNvSpPr txBox="1">
            <a:spLocks/>
          </p:cNvSpPr>
          <p:nvPr/>
        </p:nvSpPr>
        <p:spPr>
          <a:xfrm>
            <a:off x="838200" y="1416424"/>
            <a:ext cx="10515601" cy="3944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36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20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borders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 %&gt;%</a:t>
            </a:r>
          </a:p>
          <a:p>
            <a:pPr marL="0" indent="0">
              <a:buNone/>
            </a:pP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filter(</a:t>
            </a:r>
            <a:r>
              <a:rPr lang="en-US" sz="320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320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320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"B102H") 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</a:p>
          <a:p>
            <a:pPr marL="0" indent="0">
              <a:buNone/>
            </a:pP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arrange(</a:t>
            </a:r>
            <a:r>
              <a:rPr lang="en-US" sz="320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320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sz="320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</a:p>
          <a:p>
            <a:pPr marL="0" indent="0">
              <a:buNone/>
            </a:pP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	rename(</a:t>
            </a:r>
            <a:r>
              <a:rPr lang="en-US" sz="320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 = 	</a:t>
            </a:r>
            <a:r>
              <a:rPr lang="en-US" sz="320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sz="32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34057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filter(&lt;data&gt;, &lt;logical expression&gt;)</a:t>
            </a:r>
            <a:b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picks cases based on their values</a:t>
            </a:r>
          </a:p>
          <a:p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690691"/>
            <a:ext cx="5156200" cy="3352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 cases with E12 specialty</a:t>
            </a:r>
          </a:p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borders %&gt;% </a:t>
            </a:r>
          </a:p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filter(Specialty == "E12")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1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B120H cases more than 10 days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filter(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== 					"B120H" &amp;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&gt; 10)</a:t>
            </a:r>
          </a:p>
        </p:txBody>
      </p:sp>
    </p:spTree>
    <p:extLst>
      <p:ext uri="{BB962C8B-B14F-4D97-AF65-F5344CB8AC3E}">
        <p14:creationId xmlns:p14="http://schemas.microsoft.com/office/powerpoint/2010/main" val="26077234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Filter</a:t>
            </a:r>
          </a:p>
        </p:txBody>
      </p:sp>
      <p:pic>
        <p:nvPicPr>
          <p:cNvPr id="8" name="Picture 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54709BCE-03A3-574E-B033-D4639F4E7B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6" r="11673" b="68167"/>
          <a:stretch/>
        </p:blipFill>
        <p:spPr>
          <a:xfrm>
            <a:off x="647699" y="1167208"/>
            <a:ext cx="6629401" cy="1468837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9946EF2C-DD15-7A4B-8B46-CED84E2D4E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08" b="47798"/>
          <a:stretch/>
        </p:blipFill>
        <p:spPr>
          <a:xfrm>
            <a:off x="3736975" y="2661445"/>
            <a:ext cx="8350250" cy="977900"/>
          </a:xfrm>
          <a:prstGeom prst="rect">
            <a:avLst/>
          </a:prstGeom>
        </p:spPr>
      </p:pic>
      <p:pic>
        <p:nvPicPr>
          <p:cNvPr id="10" name="Picture 9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AF082874-4C3F-4A4F-BE6F-7E6E2FB55B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8" t="50550" r="11217"/>
          <a:stretch/>
        </p:blipFill>
        <p:spPr>
          <a:xfrm>
            <a:off x="838200" y="3644296"/>
            <a:ext cx="7073900" cy="228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472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Mutate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mutate(&lt;data&gt;,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new_col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 = &lt;expression&gt;)</a:t>
            </a:r>
            <a:b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adds new variables that are functions of existing variables</a:t>
            </a:r>
          </a:p>
          <a:p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8859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length of stay divided by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mutate(los_div2 = 			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/ 2)</a:t>
            </a:r>
          </a:p>
        </p:txBody>
      </p:sp>
    </p:spTree>
    <p:extLst>
      <p:ext uri="{BB962C8B-B14F-4D97-AF65-F5344CB8AC3E}">
        <p14:creationId xmlns:p14="http://schemas.microsoft.com/office/powerpoint/2010/main" val="23915772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Mutate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ED22A29-CA61-FC4C-8444-185A9A9282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2"/>
          <a:stretch/>
        </p:blipFill>
        <p:spPr>
          <a:xfrm>
            <a:off x="2994826" y="822328"/>
            <a:ext cx="6202347" cy="51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14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Arrange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359400" cy="4009567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arrange(&lt;data&gt;, &lt;variables&gt;)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changes the ordering of rows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desc()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to sort in descending order</a:t>
            </a:r>
          </a:p>
          <a:p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5430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sort by Hospital 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arrange(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29911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select(&lt;data&gt;, &lt;expression&gt;)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picks variables based on their names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prepend "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" to a variable to remove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5430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remove Postcode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select(-Postcode)</a:t>
            </a:r>
          </a:p>
        </p:txBody>
      </p:sp>
    </p:spTree>
    <p:extLst>
      <p:ext uri="{BB962C8B-B14F-4D97-AF65-F5344CB8AC3E}">
        <p14:creationId xmlns:p14="http://schemas.microsoft.com/office/powerpoint/2010/main" val="26203928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6605590" cy="400956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Read in "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Borders.csv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" (giving the data frame an appropriate name)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Which patients had a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of between 2 and 10 days? 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Which of these patients were under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E12 or C8?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Remove all columns other than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Complete all the above using pipes and write this to a CSV ordered by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38791065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(&lt;data&gt;,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groups variables to perform operations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This doesn’t visibly affect the data, but we can see the output shows the grouping. We can then perform other operations on the groups.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5430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sort by Hospital 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C72C1D7-A6FC-C946-BF47-9490EF6765EC}"/>
              </a:ext>
            </a:extLst>
          </p:cNvPr>
          <p:cNvSpPr txBox="1">
            <a:spLocks/>
          </p:cNvSpPr>
          <p:nvPr/>
        </p:nvSpPr>
        <p:spPr>
          <a:xfrm>
            <a:off x="6197600" y="3563938"/>
            <a:ext cx="5156200" cy="160337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...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Groups: </a:t>
            </a:r>
            <a:r>
              <a:rPr lang="en-US" sz="20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[48]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787500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Summarise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summarise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(&lt;data&gt;, &lt;name&gt; = &lt;expression&gt;)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reduced multiple values down to a single summary for each combination of grouped columns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2" y="1825628"/>
            <a:ext cx="5156200" cy="24034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avg length of stay by hospital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 %&gt;%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summarise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mean_los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mean(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LengthOfStay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7133276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count(&lt;data&gt;, &lt;variables&gt;)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useful for running frequencies, this calls </a:t>
            </a:r>
            <a:r>
              <a:rPr lang="en-US" err="1">
                <a:latin typeface="Calibri Light" panose="020F0302020204030204" pitchFamily="34" charset="0"/>
                <a:cs typeface="Calibri Light" panose="020F0302020204030204" pitchFamily="34" charset="0"/>
              </a:rPr>
              <a:t>group_by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() and produces counts for a specified column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sort by descending order using 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sort = TRUE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 as an argument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5430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counts of specialty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count(Specialty, sort = TRUE)</a:t>
            </a:r>
          </a:p>
        </p:txBody>
      </p:sp>
    </p:spTree>
    <p:extLst>
      <p:ext uri="{BB962C8B-B14F-4D97-AF65-F5344CB8AC3E}">
        <p14:creationId xmlns:p14="http://schemas.microsoft.com/office/powerpoint/2010/main" val="28927681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6605590" cy="400956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Read in "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Borders.csv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" (giving the data frame an appropriate name)</a:t>
            </a:r>
            <a:b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What is the earliest admission date by specialty?</a:t>
            </a:r>
            <a:b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What is the latest discharge date by specialty?</a:t>
            </a:r>
            <a:b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What are the number of admissions per hospital, per specialty?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12475796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Rename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rename(&lt;data&gt;,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 =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existing_name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renaming specific columns in a data frame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17462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rename Date of Birth column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rename(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date_of_birth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			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4039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4FE5-E291-8548-9B1E-568983A0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Recode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44BC-B2C3-B646-8C12-A3202FED9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156200" cy="4009567"/>
          </a:xfrm>
        </p:spPr>
        <p:txBody>
          <a:bodyPr/>
          <a:lstStyle/>
          <a:p>
            <a:pPr marL="0" indent="0">
              <a:buNone/>
            </a:pPr>
            <a:r>
              <a:rPr lang="en-US" sz="22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mutate(&lt;col&gt; = recode(&lt;col&gt;, &lt;</a:t>
            </a:r>
            <a:r>
              <a:rPr lang="en-US" sz="22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existing_code</a:t>
            </a:r>
            <a:r>
              <a:rPr lang="en-US" sz="22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 = &lt;</a:t>
            </a:r>
            <a:r>
              <a:rPr lang="en-US" sz="220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new_code</a:t>
            </a:r>
            <a:r>
              <a:rPr lang="en-US" sz="22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for changing values within a column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works best when used with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mutate()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04BECD-4F84-E84E-923F-7E6A9B36E2BB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156200" cy="2389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change hospital 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borders %&gt;%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mutate(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	recode(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HospitalCode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,   			"B120V" = "B120H"))</a:t>
            </a:r>
          </a:p>
        </p:txBody>
      </p:sp>
    </p:spTree>
    <p:extLst>
      <p:ext uri="{BB962C8B-B14F-4D97-AF65-F5344CB8AC3E}">
        <p14:creationId xmlns:p14="http://schemas.microsoft.com/office/powerpoint/2010/main" val="20962874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6D7B-7BEC-5E49-844F-3F038F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Exercise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6A68C-5CDD-FF4C-9C67-3A2104C7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6434139" cy="400956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Select the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columns from the borders data and save to a new data frame.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Arrange this new data in ascending order by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and check the results.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Extract the records with a missing </a:t>
            </a:r>
            <a:r>
              <a:rPr lang="en-GB" err="1">
                <a:latin typeface="Courier New" panose="02070309020205020404" pitchFamily="49" charset="0"/>
                <a:cs typeface="Courier New" panose="02070309020205020404" pitchFamily="49" charset="0"/>
              </a:rPr>
              <a:t>Dateofbirth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(hint: </a:t>
            </a:r>
            <a:r>
              <a:rPr lang="en-GB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?filter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Finally, recode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Specialty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"A1" to be "General Medicine"</a:t>
            </a:r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Content Placeholder 5" descr="Lightbulb and pencil">
            <a:extLst>
              <a:ext uri="{FF2B5EF4-FFF2-40B4-BE49-F238E27FC236}">
                <a16:creationId xmlns:a16="http://schemas.microsoft.com/office/drawing/2014/main" id="{3BD7F84D-46B0-3144-A907-C33270F957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</p:spPr>
      </p:pic>
    </p:spTree>
    <p:extLst>
      <p:ext uri="{BB962C8B-B14F-4D97-AF65-F5344CB8AC3E}">
        <p14:creationId xmlns:p14="http://schemas.microsoft.com/office/powerpoint/2010/main" val="22265152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9F7B-2388-3F40-97CE-C5C17B97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Joining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1647-CB00-D945-8AE0-2423EDAC71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&lt;type&gt;_join(&lt;data1&gt;, &lt;data2&gt;, by = &lt;</a:t>
            </a:r>
            <a:r>
              <a:rPr lang="en-US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common_variable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for merging data by matching together using common variable(s) 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More info on ty</a:t>
            </a:r>
            <a:r>
              <a:rPr lang="en-US">
                <a:latin typeface="+mj-lt"/>
                <a:cs typeface="Calibri Light" panose="020F0302020204030204" pitchFamily="34" charset="0"/>
              </a:rPr>
              <a:t>pes of joins: </a:t>
            </a:r>
            <a:r>
              <a:rPr lang="en-GB">
                <a:latin typeface="+mj-lt"/>
                <a:hlinkClick r:id="rId3"/>
              </a:rPr>
              <a:t>R for Data Science (2e) - 19  Joins (hadley.nz)</a:t>
            </a:r>
            <a:endParaRPr lang="en-US">
              <a:latin typeface="+mj-lt"/>
              <a:cs typeface="Calibri Light" panose="020F0302020204030204" pitchFamily="34" charset="0"/>
            </a:endParaRPr>
          </a:p>
          <a:p>
            <a:endParaRPr lang="en-GB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D66F616-6063-5141-BF2F-4D7ADC5D49F1}"/>
              </a:ext>
            </a:extLst>
          </p:cNvPr>
          <p:cNvSpPr txBox="1">
            <a:spLocks/>
          </p:cNvSpPr>
          <p:nvPr/>
        </p:nvSpPr>
        <p:spPr>
          <a:xfrm>
            <a:off x="6197600" y="1825628"/>
            <a:ext cx="5868894" cy="30511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merge baby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baby5 &lt;- 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("data/Baby5.csv")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baby6 &lt;- 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("data/Baby6.csv")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baby_joined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left_join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(baby5, baby6,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	by = 	c("FAMILYID", "DOB"))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baby_full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800" err="1">
                <a:latin typeface="Courier New" panose="02070309020205020404" pitchFamily="49" charset="0"/>
                <a:cs typeface="Courier New" panose="02070309020205020404" pitchFamily="49" charset="0"/>
              </a:rPr>
              <a:t>full_join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(baby5, baby6,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	by = 	c("FAMILYID", "DOB"))</a:t>
            </a:r>
          </a:p>
        </p:txBody>
      </p:sp>
    </p:spTree>
    <p:extLst>
      <p:ext uri="{BB962C8B-B14F-4D97-AF65-F5344CB8AC3E}">
        <p14:creationId xmlns:p14="http://schemas.microsoft.com/office/powerpoint/2010/main" val="32433571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8D0E-73BB-CE46-95A0-6071CBB0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423583"/>
                </a:solidFill>
              </a:rPr>
              <a:t>Join Types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75EEE4F-39E2-CF4C-B957-855A9B600C79}"/>
              </a:ext>
            </a:extLst>
          </p:cNvPr>
          <p:cNvGrpSpPr/>
          <p:nvPr/>
        </p:nvGrpSpPr>
        <p:grpSpPr>
          <a:xfrm>
            <a:off x="1296461" y="3340860"/>
            <a:ext cx="4162067" cy="1713832"/>
            <a:chOff x="1257633" y="3411944"/>
            <a:chExt cx="4162067" cy="1713832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50F2786-ED4C-974A-8C80-9BD86CFE6C3A}"/>
                </a:ext>
              </a:extLst>
            </p:cNvPr>
            <p:cNvGrpSpPr/>
            <p:nvPr/>
          </p:nvGrpSpPr>
          <p:grpSpPr>
            <a:xfrm>
              <a:off x="1257633" y="4284914"/>
              <a:ext cx="4162067" cy="840862"/>
              <a:chOff x="2423959" y="4321221"/>
              <a:chExt cx="4162067" cy="840862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A6AC99F-67ED-5B44-90FC-41AC0C298756}"/>
                  </a:ext>
                </a:extLst>
              </p:cNvPr>
              <p:cNvGrpSpPr/>
              <p:nvPr/>
            </p:nvGrpSpPr>
            <p:grpSpPr>
              <a:xfrm>
                <a:off x="2423959" y="4327571"/>
                <a:ext cx="2312545" cy="834512"/>
                <a:chOff x="2890838" y="1957388"/>
                <a:chExt cx="2312545" cy="834512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D1F9845-18E9-7C4E-9D15-9F9DFEB061F4}"/>
                    </a:ext>
                  </a:extLst>
                </p:cNvPr>
                <p:cNvGrpSpPr/>
                <p:nvPr/>
              </p:nvGrpSpPr>
              <p:grpSpPr>
                <a:xfrm>
                  <a:off x="2890838" y="1957388"/>
                  <a:ext cx="933450" cy="829596"/>
                  <a:chOff x="2890838" y="1957388"/>
                  <a:chExt cx="933450" cy="829596"/>
                </a:xfrm>
              </p:grpSpPr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67859A55-570A-8D41-BFEE-25D17B1846A9}"/>
                      </a:ext>
                    </a:extLst>
                  </p:cNvPr>
                  <p:cNvSpPr/>
                  <p:nvPr/>
                </p:nvSpPr>
                <p:spPr>
                  <a:xfrm>
                    <a:off x="2890838" y="1957388"/>
                    <a:ext cx="457200" cy="200025"/>
                  </a:xfrm>
                  <a:prstGeom prst="rect">
                    <a:avLst/>
                  </a:prstGeom>
                  <a:solidFill>
                    <a:srgbClr val="0293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F5EC817F-11ED-8540-A568-2BCB78DAFDA2}"/>
                      </a:ext>
                    </a:extLst>
                  </p:cNvPr>
                  <p:cNvSpPr/>
                  <p:nvPr/>
                </p:nvSpPr>
                <p:spPr>
                  <a:xfrm>
                    <a:off x="3367088" y="1957388"/>
                    <a:ext cx="457200" cy="200025"/>
                  </a:xfrm>
                  <a:prstGeom prst="rect">
                    <a:avLst/>
                  </a:prstGeom>
                  <a:solidFill>
                    <a:srgbClr val="0293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40D35557-E80D-CE4E-8F1C-80BCDC76EA2A}"/>
                      </a:ext>
                    </a:extLst>
                  </p:cNvPr>
                  <p:cNvSpPr/>
                  <p:nvPr/>
                </p:nvSpPr>
                <p:spPr>
                  <a:xfrm>
                    <a:off x="2890838" y="2167245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4092474-C92F-4145-98DB-CAF1594D7302}"/>
                      </a:ext>
                    </a:extLst>
                  </p:cNvPr>
                  <p:cNvSpPr/>
                  <p:nvPr/>
                </p:nvSpPr>
                <p:spPr>
                  <a:xfrm>
                    <a:off x="3367088" y="2167245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3C42C07B-0C1F-FF49-A877-533D3152F6C5}"/>
                      </a:ext>
                    </a:extLst>
                  </p:cNvPr>
                  <p:cNvSpPr/>
                  <p:nvPr/>
                </p:nvSpPr>
                <p:spPr>
                  <a:xfrm>
                    <a:off x="2890838" y="2377102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E62F8591-EE06-FD4E-AB51-A98C990CD38F}"/>
                      </a:ext>
                    </a:extLst>
                  </p:cNvPr>
                  <p:cNvSpPr/>
                  <p:nvPr/>
                </p:nvSpPr>
                <p:spPr>
                  <a:xfrm>
                    <a:off x="3367088" y="2377102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8222D0AD-57B9-9E46-93D6-584694F884EF}"/>
                      </a:ext>
                    </a:extLst>
                  </p:cNvPr>
                  <p:cNvSpPr/>
                  <p:nvPr/>
                </p:nvSpPr>
                <p:spPr>
                  <a:xfrm>
                    <a:off x="2890838" y="2586959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1F010C96-9FFC-BE45-9B10-EBF311D5213F}"/>
                      </a:ext>
                    </a:extLst>
                  </p:cNvPr>
                  <p:cNvSpPr/>
                  <p:nvPr/>
                </p:nvSpPr>
                <p:spPr>
                  <a:xfrm>
                    <a:off x="3367088" y="2586959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999B31F1-2F83-2A4F-89B2-B6D9D5202619}"/>
                    </a:ext>
                  </a:extLst>
                </p:cNvPr>
                <p:cNvGrpSpPr/>
                <p:nvPr/>
              </p:nvGrpSpPr>
              <p:grpSpPr>
                <a:xfrm>
                  <a:off x="4272270" y="1962304"/>
                  <a:ext cx="931113" cy="829596"/>
                  <a:chOff x="2890838" y="1957388"/>
                  <a:chExt cx="931113" cy="829596"/>
                </a:xfrm>
              </p:grpSpPr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4C41259-7953-4E45-A3CE-D8710EB5B536}"/>
                      </a:ext>
                    </a:extLst>
                  </p:cNvPr>
                  <p:cNvSpPr/>
                  <p:nvPr/>
                </p:nvSpPr>
                <p:spPr>
                  <a:xfrm>
                    <a:off x="2890838" y="1957388"/>
                    <a:ext cx="457200" cy="200025"/>
                  </a:xfrm>
                  <a:prstGeom prst="rect">
                    <a:avLst/>
                  </a:prstGeom>
                  <a:solidFill>
                    <a:srgbClr val="95C01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9280A138-E330-B547-BC40-E399FEC84B42}"/>
                      </a:ext>
                    </a:extLst>
                  </p:cNvPr>
                  <p:cNvSpPr/>
                  <p:nvPr/>
                </p:nvSpPr>
                <p:spPr>
                  <a:xfrm>
                    <a:off x="3364751" y="1957388"/>
                    <a:ext cx="457200" cy="200025"/>
                  </a:xfrm>
                  <a:prstGeom prst="rect">
                    <a:avLst/>
                  </a:prstGeom>
                  <a:solidFill>
                    <a:srgbClr val="95C01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518528C2-1C8C-DE45-B967-B0D2853C2D95}"/>
                      </a:ext>
                    </a:extLst>
                  </p:cNvPr>
                  <p:cNvSpPr/>
                  <p:nvPr/>
                </p:nvSpPr>
                <p:spPr>
                  <a:xfrm>
                    <a:off x="2890838" y="2167245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23A7C342-D92D-404D-976F-32C640AC69F4}"/>
                      </a:ext>
                    </a:extLst>
                  </p:cNvPr>
                  <p:cNvSpPr/>
                  <p:nvPr/>
                </p:nvSpPr>
                <p:spPr>
                  <a:xfrm>
                    <a:off x="3364751" y="2167245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3AC683E6-B41E-B24F-A13C-DD332BC961DD}"/>
                      </a:ext>
                    </a:extLst>
                  </p:cNvPr>
                  <p:cNvSpPr/>
                  <p:nvPr/>
                </p:nvSpPr>
                <p:spPr>
                  <a:xfrm>
                    <a:off x="2890838" y="2377102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F77491A-BFB3-D44B-BAD1-4316D894DA07}"/>
                      </a:ext>
                    </a:extLst>
                  </p:cNvPr>
                  <p:cNvSpPr/>
                  <p:nvPr/>
                </p:nvSpPr>
                <p:spPr>
                  <a:xfrm>
                    <a:off x="3364751" y="2377102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B65F8136-F078-E24F-8D38-F6AFE871D266}"/>
                      </a:ext>
                    </a:extLst>
                  </p:cNvPr>
                  <p:cNvSpPr/>
                  <p:nvPr/>
                </p:nvSpPr>
                <p:spPr>
                  <a:xfrm>
                    <a:off x="2890838" y="2586959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6AE7DD48-04EF-6A4E-8A9E-4D270091A1B3}"/>
                      </a:ext>
                    </a:extLst>
                  </p:cNvPr>
                  <p:cNvSpPr/>
                  <p:nvPr/>
                </p:nvSpPr>
                <p:spPr>
                  <a:xfrm>
                    <a:off x="3364751" y="2586959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55" name="Curved Connector 54">
                  <a:extLst>
                    <a:ext uri="{FF2B5EF4-FFF2-40B4-BE49-F238E27FC236}">
                      <a16:creationId xmlns:a16="http://schemas.microsoft.com/office/drawing/2014/main" id="{48CD53D7-ED56-0B4F-A9C5-2EDF2921AD27}"/>
                    </a:ext>
                  </a:extLst>
                </p:cNvPr>
                <p:cNvCxnSpPr>
                  <a:stCxn id="70" idx="3"/>
                  <a:endCxn id="59" idx="1"/>
                </p:cNvCxnSpPr>
                <p:nvPr/>
              </p:nvCxnSpPr>
              <p:spPr>
                <a:xfrm flipV="1">
                  <a:off x="3824288" y="2272174"/>
                  <a:ext cx="447982" cy="204941"/>
                </a:xfrm>
                <a:prstGeom prst="curvedConnector3">
                  <a:avLst/>
                </a:prstGeom>
                <a:ln>
                  <a:solidFill>
                    <a:srgbClr val="9B4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urved Connector 55">
                  <a:extLst>
                    <a:ext uri="{FF2B5EF4-FFF2-40B4-BE49-F238E27FC236}">
                      <a16:creationId xmlns:a16="http://schemas.microsoft.com/office/drawing/2014/main" id="{99BE03D6-45D8-F64A-AF24-179AF17F73BC}"/>
                    </a:ext>
                  </a:extLst>
                </p:cNvPr>
                <p:cNvCxnSpPr>
                  <a:cxnSpLocks/>
                  <a:stCxn id="72" idx="3"/>
                  <a:endCxn id="61" idx="1"/>
                </p:cNvCxnSpPr>
                <p:nvPr/>
              </p:nvCxnSpPr>
              <p:spPr>
                <a:xfrm flipV="1">
                  <a:off x="3824288" y="2482031"/>
                  <a:ext cx="447982" cy="204941"/>
                </a:xfrm>
                <a:prstGeom prst="curvedConnector3">
                  <a:avLst/>
                </a:prstGeom>
                <a:ln>
                  <a:solidFill>
                    <a:srgbClr val="9B4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4F18FC3-483C-E549-8D27-6EC942E88375}"/>
                  </a:ext>
                </a:extLst>
              </p:cNvPr>
              <p:cNvSpPr/>
              <p:nvPr/>
            </p:nvSpPr>
            <p:spPr>
              <a:xfrm>
                <a:off x="5176326" y="4322655"/>
                <a:ext cx="457200" cy="200025"/>
              </a:xfrm>
              <a:prstGeom prst="rect">
                <a:avLst/>
              </a:prstGeom>
              <a:solidFill>
                <a:srgbClr val="029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0B35C329-D70C-AD42-AA19-0D9816C48EE0}"/>
                  </a:ext>
                </a:extLst>
              </p:cNvPr>
              <p:cNvSpPr/>
              <p:nvPr/>
            </p:nvSpPr>
            <p:spPr>
              <a:xfrm>
                <a:off x="5652576" y="4322655"/>
                <a:ext cx="457200" cy="200025"/>
              </a:xfrm>
              <a:prstGeom prst="rect">
                <a:avLst/>
              </a:prstGeom>
              <a:solidFill>
                <a:srgbClr val="029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E929389-9B52-9B41-83BC-0E06F56ACE7F}"/>
                  </a:ext>
                </a:extLst>
              </p:cNvPr>
              <p:cNvSpPr/>
              <p:nvPr/>
            </p:nvSpPr>
            <p:spPr>
              <a:xfrm>
                <a:off x="5176326" y="4532512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E3348A66-0EC8-0F46-9D03-41CEC4E8D8EE}"/>
                  </a:ext>
                </a:extLst>
              </p:cNvPr>
              <p:cNvSpPr/>
              <p:nvPr/>
            </p:nvSpPr>
            <p:spPr>
              <a:xfrm>
                <a:off x="5652576" y="4532512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4016E73-8A30-2345-8165-43FB18F2984B}"/>
                  </a:ext>
                </a:extLst>
              </p:cNvPr>
              <p:cNvSpPr/>
              <p:nvPr/>
            </p:nvSpPr>
            <p:spPr>
              <a:xfrm>
                <a:off x="5176326" y="4742369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4785CD7-094F-144A-83D9-9C87AAAD13B1}"/>
                  </a:ext>
                </a:extLst>
              </p:cNvPr>
              <p:cNvSpPr/>
              <p:nvPr/>
            </p:nvSpPr>
            <p:spPr>
              <a:xfrm>
                <a:off x="5652576" y="4742369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EF1677CA-628E-3446-A3E6-1D3DF9D23C4E}"/>
                  </a:ext>
                </a:extLst>
              </p:cNvPr>
              <p:cNvSpPr/>
              <p:nvPr/>
            </p:nvSpPr>
            <p:spPr>
              <a:xfrm>
                <a:off x="6128826" y="4321221"/>
                <a:ext cx="457200" cy="200025"/>
              </a:xfrm>
              <a:prstGeom prst="rect">
                <a:avLst/>
              </a:prstGeom>
              <a:solidFill>
                <a:srgbClr val="95C0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2E3652E-8EF0-5541-A8D8-53780A182380}"/>
                  </a:ext>
                </a:extLst>
              </p:cNvPr>
              <p:cNvSpPr/>
              <p:nvPr/>
            </p:nvSpPr>
            <p:spPr>
              <a:xfrm>
                <a:off x="6128826" y="4531078"/>
                <a:ext cx="457200" cy="200025"/>
              </a:xfrm>
              <a:prstGeom prst="rect">
                <a:avLst/>
              </a:prstGeom>
              <a:solidFill>
                <a:srgbClr val="95C01D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6B68D63-7C56-8F43-B22C-8F35F345F6BB}"/>
                  </a:ext>
                </a:extLst>
              </p:cNvPr>
              <p:cNvSpPr/>
              <p:nvPr/>
            </p:nvSpPr>
            <p:spPr>
              <a:xfrm>
                <a:off x="6128826" y="4740935"/>
                <a:ext cx="457200" cy="200025"/>
              </a:xfrm>
              <a:prstGeom prst="rect">
                <a:avLst/>
              </a:prstGeom>
              <a:solidFill>
                <a:srgbClr val="95C01D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E03B5CB-B024-2445-93E7-30A16868086E}"/>
                </a:ext>
              </a:extLst>
            </p:cNvPr>
            <p:cNvSpPr txBox="1"/>
            <p:nvPr/>
          </p:nvSpPr>
          <p:spPr>
            <a:xfrm>
              <a:off x="2270272" y="3411944"/>
              <a:ext cx="20780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err="1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inner_join</a:t>
              </a:r>
              <a:r>
                <a:rPr lang="en-GB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6FEDCBF-E9D7-FD44-A6FC-0B120B65A49E}"/>
              </a:ext>
            </a:extLst>
          </p:cNvPr>
          <p:cNvGrpSpPr/>
          <p:nvPr/>
        </p:nvGrpSpPr>
        <p:grpSpPr>
          <a:xfrm>
            <a:off x="6745708" y="3349242"/>
            <a:ext cx="4181782" cy="1702778"/>
            <a:chOff x="6998041" y="3313543"/>
            <a:chExt cx="4181782" cy="1702778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DBA84AD-4DC2-DC45-B7BB-B02D644CF7DC}"/>
                </a:ext>
              </a:extLst>
            </p:cNvPr>
            <p:cNvGrpSpPr/>
            <p:nvPr/>
          </p:nvGrpSpPr>
          <p:grpSpPr>
            <a:xfrm>
              <a:off x="6998041" y="4181809"/>
              <a:ext cx="4181782" cy="834512"/>
              <a:chOff x="7491208" y="4396193"/>
              <a:chExt cx="4181782" cy="834512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8FA77C46-FF74-A54B-8855-EC9114A36C12}"/>
                  </a:ext>
                </a:extLst>
              </p:cNvPr>
              <p:cNvGrpSpPr/>
              <p:nvPr/>
            </p:nvGrpSpPr>
            <p:grpSpPr>
              <a:xfrm>
                <a:off x="7491208" y="4396193"/>
                <a:ext cx="2312545" cy="834512"/>
                <a:chOff x="2890838" y="1957388"/>
                <a:chExt cx="2312545" cy="834512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970D60F9-B77E-6E45-9BFF-A20CC43984A5}"/>
                    </a:ext>
                  </a:extLst>
                </p:cNvPr>
                <p:cNvGrpSpPr/>
                <p:nvPr/>
              </p:nvGrpSpPr>
              <p:grpSpPr>
                <a:xfrm>
                  <a:off x="2890838" y="1957388"/>
                  <a:ext cx="933450" cy="829596"/>
                  <a:chOff x="2890838" y="1957388"/>
                  <a:chExt cx="933450" cy="829596"/>
                </a:xfrm>
              </p:grpSpPr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48605806-52DC-2E4D-8E91-B5CB0E8782B7}"/>
                      </a:ext>
                    </a:extLst>
                  </p:cNvPr>
                  <p:cNvSpPr/>
                  <p:nvPr/>
                </p:nvSpPr>
                <p:spPr>
                  <a:xfrm>
                    <a:off x="2890838" y="1957388"/>
                    <a:ext cx="457200" cy="200025"/>
                  </a:xfrm>
                  <a:prstGeom prst="rect">
                    <a:avLst/>
                  </a:prstGeom>
                  <a:solidFill>
                    <a:srgbClr val="0293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BEE57C53-12AE-8543-8410-A21C0BB1006B}"/>
                      </a:ext>
                    </a:extLst>
                  </p:cNvPr>
                  <p:cNvSpPr/>
                  <p:nvPr/>
                </p:nvSpPr>
                <p:spPr>
                  <a:xfrm>
                    <a:off x="3367088" y="1957388"/>
                    <a:ext cx="457200" cy="200025"/>
                  </a:xfrm>
                  <a:prstGeom prst="rect">
                    <a:avLst/>
                  </a:prstGeom>
                  <a:solidFill>
                    <a:srgbClr val="0293D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C3115BDF-2F30-DC4B-900F-FDE33219D4C5}"/>
                      </a:ext>
                    </a:extLst>
                  </p:cNvPr>
                  <p:cNvSpPr/>
                  <p:nvPr/>
                </p:nvSpPr>
                <p:spPr>
                  <a:xfrm>
                    <a:off x="2890838" y="2167245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BE79591D-1D57-1B45-9B53-2282AF732C5C}"/>
                      </a:ext>
                    </a:extLst>
                  </p:cNvPr>
                  <p:cNvSpPr/>
                  <p:nvPr/>
                </p:nvSpPr>
                <p:spPr>
                  <a:xfrm>
                    <a:off x="3367088" y="2167245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F6DD0E84-A86F-3141-9BE4-22B108C67416}"/>
                      </a:ext>
                    </a:extLst>
                  </p:cNvPr>
                  <p:cNvSpPr/>
                  <p:nvPr/>
                </p:nvSpPr>
                <p:spPr>
                  <a:xfrm>
                    <a:off x="2890838" y="2377102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6AECF33E-3E44-D44D-896B-988C43109B9D}"/>
                      </a:ext>
                    </a:extLst>
                  </p:cNvPr>
                  <p:cNvSpPr/>
                  <p:nvPr/>
                </p:nvSpPr>
                <p:spPr>
                  <a:xfrm>
                    <a:off x="3367088" y="2377102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AD818375-4967-C04B-AD6F-C1E5F3C42128}"/>
                      </a:ext>
                    </a:extLst>
                  </p:cNvPr>
                  <p:cNvSpPr/>
                  <p:nvPr/>
                </p:nvSpPr>
                <p:spPr>
                  <a:xfrm>
                    <a:off x="2890838" y="2586959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5075AF9C-3329-5544-90EA-F72CFA18913E}"/>
                      </a:ext>
                    </a:extLst>
                  </p:cNvPr>
                  <p:cNvSpPr/>
                  <p:nvPr/>
                </p:nvSpPr>
                <p:spPr>
                  <a:xfrm>
                    <a:off x="3367088" y="2586959"/>
                    <a:ext cx="457200" cy="200025"/>
                  </a:xfrm>
                  <a:prstGeom prst="rect">
                    <a:avLst/>
                  </a:prstGeom>
                  <a:solidFill>
                    <a:srgbClr val="0293D3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79FE90EC-F80B-654F-B403-A47FA51115A5}"/>
                    </a:ext>
                  </a:extLst>
                </p:cNvPr>
                <p:cNvGrpSpPr/>
                <p:nvPr/>
              </p:nvGrpSpPr>
              <p:grpSpPr>
                <a:xfrm>
                  <a:off x="4272270" y="1962304"/>
                  <a:ext cx="931113" cy="829596"/>
                  <a:chOff x="2890838" y="1957388"/>
                  <a:chExt cx="931113" cy="829596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C1F62811-4C30-B349-8637-4A6AE852E27D}"/>
                      </a:ext>
                    </a:extLst>
                  </p:cNvPr>
                  <p:cNvSpPr/>
                  <p:nvPr/>
                </p:nvSpPr>
                <p:spPr>
                  <a:xfrm>
                    <a:off x="2890838" y="1957388"/>
                    <a:ext cx="457200" cy="200025"/>
                  </a:xfrm>
                  <a:prstGeom prst="rect">
                    <a:avLst/>
                  </a:prstGeom>
                  <a:solidFill>
                    <a:srgbClr val="95C01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EE30E458-88D0-C441-87E2-2108C3C04F5C}"/>
                      </a:ext>
                    </a:extLst>
                  </p:cNvPr>
                  <p:cNvSpPr/>
                  <p:nvPr/>
                </p:nvSpPr>
                <p:spPr>
                  <a:xfrm>
                    <a:off x="3364751" y="1957388"/>
                    <a:ext cx="457200" cy="200025"/>
                  </a:xfrm>
                  <a:prstGeom prst="rect">
                    <a:avLst/>
                  </a:prstGeom>
                  <a:solidFill>
                    <a:srgbClr val="95C01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04219EA1-52B7-544A-BAEE-059274D27A3F}"/>
                      </a:ext>
                    </a:extLst>
                  </p:cNvPr>
                  <p:cNvSpPr/>
                  <p:nvPr/>
                </p:nvSpPr>
                <p:spPr>
                  <a:xfrm>
                    <a:off x="2890838" y="2167245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C415B00-E900-AE4E-8AFB-28A4650C40E2}"/>
                      </a:ext>
                    </a:extLst>
                  </p:cNvPr>
                  <p:cNvSpPr/>
                  <p:nvPr/>
                </p:nvSpPr>
                <p:spPr>
                  <a:xfrm>
                    <a:off x="3364751" y="2167245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75EE7B5E-1CA2-D24C-8989-ACE09DD03399}"/>
                      </a:ext>
                    </a:extLst>
                  </p:cNvPr>
                  <p:cNvSpPr/>
                  <p:nvPr/>
                </p:nvSpPr>
                <p:spPr>
                  <a:xfrm>
                    <a:off x="2890838" y="2377102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E2300666-11CB-434B-A47E-5CA455183C43}"/>
                      </a:ext>
                    </a:extLst>
                  </p:cNvPr>
                  <p:cNvSpPr/>
                  <p:nvPr/>
                </p:nvSpPr>
                <p:spPr>
                  <a:xfrm>
                    <a:off x="3364751" y="2377102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B049E9B4-8339-2247-8C10-2708256E3A4A}"/>
                      </a:ext>
                    </a:extLst>
                  </p:cNvPr>
                  <p:cNvSpPr/>
                  <p:nvPr/>
                </p:nvSpPr>
                <p:spPr>
                  <a:xfrm>
                    <a:off x="2890838" y="2586959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9229D44B-0A36-8547-9D6A-10514772961B}"/>
                      </a:ext>
                    </a:extLst>
                  </p:cNvPr>
                  <p:cNvSpPr/>
                  <p:nvPr/>
                </p:nvSpPr>
                <p:spPr>
                  <a:xfrm>
                    <a:off x="3364751" y="2586959"/>
                    <a:ext cx="457200" cy="200025"/>
                  </a:xfrm>
                  <a:prstGeom prst="rect">
                    <a:avLst/>
                  </a:prstGeom>
                  <a:solidFill>
                    <a:srgbClr val="95C01D">
                      <a:alpha val="5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76" name="Curved Connector 75">
                  <a:extLst>
                    <a:ext uri="{FF2B5EF4-FFF2-40B4-BE49-F238E27FC236}">
                      <a16:creationId xmlns:a16="http://schemas.microsoft.com/office/drawing/2014/main" id="{795A72BD-57B2-EF4B-B0CB-78BA5E9F0CD4}"/>
                    </a:ext>
                  </a:extLst>
                </p:cNvPr>
                <p:cNvCxnSpPr>
                  <a:stCxn id="91" idx="3"/>
                  <a:endCxn id="80" idx="1"/>
                </p:cNvCxnSpPr>
                <p:nvPr/>
              </p:nvCxnSpPr>
              <p:spPr>
                <a:xfrm flipV="1">
                  <a:off x="3824288" y="2272174"/>
                  <a:ext cx="447982" cy="204941"/>
                </a:xfrm>
                <a:prstGeom prst="curvedConnector3">
                  <a:avLst/>
                </a:prstGeom>
                <a:ln>
                  <a:solidFill>
                    <a:srgbClr val="9B4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urved Connector 76">
                  <a:extLst>
                    <a:ext uri="{FF2B5EF4-FFF2-40B4-BE49-F238E27FC236}">
                      <a16:creationId xmlns:a16="http://schemas.microsoft.com/office/drawing/2014/main" id="{2FAA7537-1D32-EC46-B8B9-4073128A28B2}"/>
                    </a:ext>
                  </a:extLst>
                </p:cNvPr>
                <p:cNvCxnSpPr>
                  <a:cxnSpLocks/>
                  <a:stCxn id="93" idx="3"/>
                  <a:endCxn id="82" idx="1"/>
                </p:cNvCxnSpPr>
                <p:nvPr/>
              </p:nvCxnSpPr>
              <p:spPr>
                <a:xfrm flipV="1">
                  <a:off x="3824288" y="2482031"/>
                  <a:ext cx="447982" cy="204941"/>
                </a:xfrm>
                <a:prstGeom prst="curvedConnector3">
                  <a:avLst/>
                </a:prstGeom>
                <a:ln>
                  <a:solidFill>
                    <a:srgbClr val="9B4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3979BBCF-34D7-6040-A864-13F4ABF144BA}"/>
                  </a:ext>
                </a:extLst>
              </p:cNvPr>
              <p:cNvSpPr/>
              <p:nvPr/>
            </p:nvSpPr>
            <p:spPr>
              <a:xfrm>
                <a:off x="10263290" y="4396193"/>
                <a:ext cx="457200" cy="200025"/>
              </a:xfrm>
              <a:prstGeom prst="rect">
                <a:avLst/>
              </a:prstGeom>
              <a:solidFill>
                <a:srgbClr val="029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DD4AA0A7-F1B7-224E-BE2E-B731E1DAE3FB}"/>
                  </a:ext>
                </a:extLst>
              </p:cNvPr>
              <p:cNvSpPr/>
              <p:nvPr/>
            </p:nvSpPr>
            <p:spPr>
              <a:xfrm>
                <a:off x="10739540" y="4396193"/>
                <a:ext cx="457200" cy="200025"/>
              </a:xfrm>
              <a:prstGeom prst="rect">
                <a:avLst/>
              </a:prstGeom>
              <a:solidFill>
                <a:srgbClr val="029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1B76EE5-6232-284E-8819-304A773F36CA}"/>
                  </a:ext>
                </a:extLst>
              </p:cNvPr>
              <p:cNvSpPr/>
              <p:nvPr/>
            </p:nvSpPr>
            <p:spPr>
              <a:xfrm>
                <a:off x="10263290" y="4606050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4D828ABA-9BB8-264B-ACA4-88D8452F0E16}"/>
                  </a:ext>
                </a:extLst>
              </p:cNvPr>
              <p:cNvSpPr/>
              <p:nvPr/>
            </p:nvSpPr>
            <p:spPr>
              <a:xfrm>
                <a:off x="10739540" y="4606050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4B03010-136C-054D-9E1E-6C9950CA538C}"/>
                  </a:ext>
                </a:extLst>
              </p:cNvPr>
              <p:cNvSpPr/>
              <p:nvPr/>
            </p:nvSpPr>
            <p:spPr>
              <a:xfrm>
                <a:off x="10263290" y="4815907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426E0187-C8C1-E742-89A6-38D07A3DC8C1}"/>
                  </a:ext>
                </a:extLst>
              </p:cNvPr>
              <p:cNvSpPr/>
              <p:nvPr/>
            </p:nvSpPr>
            <p:spPr>
              <a:xfrm>
                <a:off x="10739540" y="4815907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79F4B32-49E4-EB4B-B452-29FFD7E7E59D}"/>
                  </a:ext>
                </a:extLst>
              </p:cNvPr>
              <p:cNvSpPr/>
              <p:nvPr/>
            </p:nvSpPr>
            <p:spPr>
              <a:xfrm>
                <a:off x="10263290" y="5025764"/>
                <a:ext cx="457200" cy="200025"/>
              </a:xfrm>
              <a:prstGeom prst="rect">
                <a:avLst/>
              </a:prstGeom>
              <a:solidFill>
                <a:srgbClr val="0293D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234CD849-0A15-BE43-8272-39ABE43ED433}"/>
                  </a:ext>
                </a:extLst>
              </p:cNvPr>
              <p:cNvSpPr/>
              <p:nvPr/>
            </p:nvSpPr>
            <p:spPr>
              <a:xfrm>
                <a:off x="10739540" y="5025764"/>
                <a:ext cx="457200" cy="200025"/>
              </a:xfrm>
              <a:prstGeom prst="rect">
                <a:avLst/>
              </a:prstGeom>
              <a:solidFill>
                <a:srgbClr val="0293D3">
                  <a:alpha val="2470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AB942A5-D08C-8844-8730-EE882E57545C}"/>
                  </a:ext>
                </a:extLst>
              </p:cNvPr>
              <p:cNvSpPr/>
              <p:nvPr/>
            </p:nvSpPr>
            <p:spPr>
              <a:xfrm>
                <a:off x="11215790" y="4396193"/>
                <a:ext cx="457200" cy="200025"/>
              </a:xfrm>
              <a:prstGeom prst="rect">
                <a:avLst/>
              </a:prstGeom>
              <a:solidFill>
                <a:srgbClr val="95C0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77A4B8F-0434-2C4D-AC86-7926AEC698E5}"/>
                  </a:ext>
                </a:extLst>
              </p:cNvPr>
              <p:cNvSpPr/>
              <p:nvPr/>
            </p:nvSpPr>
            <p:spPr>
              <a:xfrm>
                <a:off x="11215790" y="4606050"/>
                <a:ext cx="457200" cy="200025"/>
              </a:xfrm>
              <a:prstGeom prst="rect">
                <a:avLst/>
              </a:prstGeom>
              <a:solidFill>
                <a:srgbClr val="95C01D">
                  <a:alpha val="2470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F2F89E95-1183-5245-9100-BEC4C06649CF}"/>
                  </a:ext>
                </a:extLst>
              </p:cNvPr>
              <p:cNvSpPr/>
              <p:nvPr/>
            </p:nvSpPr>
            <p:spPr>
              <a:xfrm>
                <a:off x="11215790" y="4815907"/>
                <a:ext cx="457200" cy="200025"/>
              </a:xfrm>
              <a:prstGeom prst="rect">
                <a:avLst/>
              </a:prstGeom>
              <a:solidFill>
                <a:srgbClr val="95C01D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23F4D007-87E3-4949-B03F-953EC9839101}"/>
                  </a:ext>
                </a:extLst>
              </p:cNvPr>
              <p:cNvSpPr/>
              <p:nvPr/>
            </p:nvSpPr>
            <p:spPr>
              <a:xfrm>
                <a:off x="11215790" y="5025764"/>
                <a:ext cx="457200" cy="200025"/>
              </a:xfrm>
              <a:prstGeom prst="rect">
                <a:avLst/>
              </a:prstGeom>
              <a:solidFill>
                <a:srgbClr val="95C01D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34A1CC5-140D-E649-9A48-C29CE3BFA2B4}"/>
                </a:ext>
              </a:extLst>
            </p:cNvPr>
            <p:cNvSpPr txBox="1"/>
            <p:nvPr/>
          </p:nvSpPr>
          <p:spPr>
            <a:xfrm>
              <a:off x="8051311" y="3313543"/>
              <a:ext cx="207808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err="1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full_join</a:t>
              </a:r>
              <a:r>
                <a:rPr lang="en-GB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CD7D86E8-8CB2-434A-BA0F-14A11982583F}"/>
              </a:ext>
            </a:extLst>
          </p:cNvPr>
          <p:cNvSpPr txBox="1"/>
          <p:nvPr/>
        </p:nvSpPr>
        <p:spPr>
          <a:xfrm>
            <a:off x="1296461" y="3669375"/>
            <a:ext cx="416206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>
                <a:solidFill>
                  <a:srgbClr val="9B43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 of matched fields from data sets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EA51114-2C0B-854D-AC97-2C3DF443262C}"/>
              </a:ext>
            </a:extLst>
          </p:cNvPr>
          <p:cNvSpPr txBox="1"/>
          <p:nvPr/>
        </p:nvSpPr>
        <p:spPr>
          <a:xfrm>
            <a:off x="6748619" y="3665022"/>
            <a:ext cx="416206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600">
                <a:solidFill>
                  <a:srgbClr val="9B43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 rows, </a:t>
            </a:r>
            <a:r>
              <a:rPr lang="en-GB" sz="1600" err="1">
                <a:solidFill>
                  <a:srgbClr val="9B43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</a:t>
            </a:r>
            <a:r>
              <a:rPr lang="en-GB" sz="1600">
                <a:solidFill>
                  <a:srgbClr val="9B43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non-matched fields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6EBD1F-DF6C-6947-AE4C-3DDD3A8E6207}"/>
              </a:ext>
            </a:extLst>
          </p:cNvPr>
          <p:cNvGrpSpPr/>
          <p:nvPr/>
        </p:nvGrpSpPr>
        <p:grpSpPr>
          <a:xfrm>
            <a:off x="6759246" y="1411679"/>
            <a:ext cx="4192505" cy="1717955"/>
            <a:chOff x="6754077" y="1179121"/>
            <a:chExt cx="4192505" cy="1717955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DD625DF-B75A-CD44-A2ED-06912009B630}"/>
                </a:ext>
              </a:extLst>
            </p:cNvPr>
            <p:cNvGrpSpPr/>
            <p:nvPr/>
          </p:nvGrpSpPr>
          <p:grpSpPr>
            <a:xfrm>
              <a:off x="6754077" y="1179121"/>
              <a:ext cx="4192505" cy="1717955"/>
              <a:chOff x="7004987" y="1377951"/>
              <a:chExt cx="4192505" cy="171795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EE9812AB-A012-9A41-A019-10E9DE170B64}"/>
                  </a:ext>
                </a:extLst>
              </p:cNvPr>
              <p:cNvGrpSpPr/>
              <p:nvPr/>
            </p:nvGrpSpPr>
            <p:grpSpPr>
              <a:xfrm>
                <a:off x="7004987" y="2258920"/>
                <a:ext cx="4192505" cy="836986"/>
                <a:chOff x="7486292" y="2227315"/>
                <a:chExt cx="4192505" cy="836986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E1536DF6-4662-7C49-8B5E-825364FE894E}"/>
                    </a:ext>
                  </a:extLst>
                </p:cNvPr>
                <p:cNvGrpSpPr/>
                <p:nvPr/>
              </p:nvGrpSpPr>
              <p:grpSpPr>
                <a:xfrm>
                  <a:off x="7486292" y="2227315"/>
                  <a:ext cx="2312545" cy="834512"/>
                  <a:chOff x="2890838" y="1957388"/>
                  <a:chExt cx="2312545" cy="834512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50FE27E9-602C-6449-9E60-EAE2CE506896}"/>
                      </a:ext>
                    </a:extLst>
                  </p:cNvPr>
                  <p:cNvGrpSpPr/>
                  <p:nvPr/>
                </p:nvGrpSpPr>
                <p:grpSpPr>
                  <a:xfrm>
                    <a:off x="2890838" y="1957388"/>
                    <a:ext cx="933450" cy="829596"/>
                    <a:chOff x="2890838" y="1957388"/>
                    <a:chExt cx="933450" cy="829596"/>
                  </a:xfrm>
                </p:grpSpPr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32A49B55-37A3-6B4A-8FFB-C3350075A4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9CE8FD6-F21C-EE43-B326-DF3A077C14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ED64213A-E898-454D-97AE-AA07DBFC2D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8321FE66-3600-A249-ADD1-E00AB0636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7DAA5FA8-F759-064C-BA59-06B9C3B2B1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9" name="Rectangle 48">
                      <a:extLst>
                        <a:ext uri="{FF2B5EF4-FFF2-40B4-BE49-F238E27FC236}">
                          <a16:creationId xmlns:a16="http://schemas.microsoft.com/office/drawing/2014/main" id="{1C54F9C0-BA8C-CF49-8B90-14EBE43082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440226F9-7901-7F44-9CB7-7E8845D9AD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EFC86113-992D-084C-BEAB-7E8C0D0FF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5E87D5A-8AEC-F542-AE55-894315DA08FC}"/>
                      </a:ext>
                    </a:extLst>
                  </p:cNvPr>
                  <p:cNvGrpSpPr/>
                  <p:nvPr/>
                </p:nvGrpSpPr>
                <p:grpSpPr>
                  <a:xfrm>
                    <a:off x="4272270" y="1962304"/>
                    <a:ext cx="931113" cy="829596"/>
                    <a:chOff x="2890838" y="1957388"/>
                    <a:chExt cx="931113" cy="829596"/>
                  </a:xfrm>
                </p:grpSpPr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3CAE2106-AE75-8A4F-8EA8-06011EE465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5320E179-4B95-4D4C-BA04-9D57BE2A6D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2D68627A-4B2E-5C48-8FB4-6D0D67C0F5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id="{3FC6DF58-31E2-1145-A1C2-2A15DAFFC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25FFECA6-1337-D942-844D-B6A4565894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30D8AD6D-38ED-414C-B52A-226B3BEFF9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2662BB44-7EB8-4447-94F7-00ED0929DE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03B75BAE-F286-EF4D-8092-11EBD82E8B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cxnSp>
                <p:nvCxnSpPr>
                  <p:cNvPr id="34" name="Curved Connector 33">
                    <a:extLst>
                      <a:ext uri="{FF2B5EF4-FFF2-40B4-BE49-F238E27FC236}">
                        <a16:creationId xmlns:a16="http://schemas.microsoft.com/office/drawing/2014/main" id="{C2D2DEB0-C4FC-8143-A9C5-942AB3F498E5}"/>
                      </a:ext>
                    </a:extLst>
                  </p:cNvPr>
                  <p:cNvCxnSpPr>
                    <a:stCxn id="49" idx="3"/>
                    <a:endCxn id="38" idx="1"/>
                  </p:cNvCxnSpPr>
                  <p:nvPr/>
                </p:nvCxnSpPr>
                <p:spPr>
                  <a:xfrm flipV="1">
                    <a:off x="3824288" y="2272174"/>
                    <a:ext cx="447982" cy="204941"/>
                  </a:xfrm>
                  <a:prstGeom prst="curvedConnector3">
                    <a:avLst/>
                  </a:prstGeom>
                  <a:ln>
                    <a:solidFill>
                      <a:srgbClr val="9B439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Curved Connector 34">
                    <a:extLst>
                      <a:ext uri="{FF2B5EF4-FFF2-40B4-BE49-F238E27FC236}">
                        <a16:creationId xmlns:a16="http://schemas.microsoft.com/office/drawing/2014/main" id="{7D73CECB-BCB7-CD44-9F23-0857977F10E7}"/>
                      </a:ext>
                    </a:extLst>
                  </p:cNvPr>
                  <p:cNvCxnSpPr>
                    <a:cxnSpLocks/>
                    <a:stCxn id="51" idx="3"/>
                    <a:endCxn id="40" idx="1"/>
                  </p:cNvCxnSpPr>
                  <p:nvPr/>
                </p:nvCxnSpPr>
                <p:spPr>
                  <a:xfrm flipV="1">
                    <a:off x="3824288" y="2482031"/>
                    <a:ext cx="447982" cy="204941"/>
                  </a:xfrm>
                  <a:prstGeom prst="curvedConnector3">
                    <a:avLst/>
                  </a:prstGeom>
                  <a:ln>
                    <a:solidFill>
                      <a:srgbClr val="9B439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EE729DF8-2EE0-7840-95A5-6631BE2BD9F5}"/>
                    </a:ext>
                  </a:extLst>
                </p:cNvPr>
                <p:cNvSpPr/>
                <p:nvPr/>
              </p:nvSpPr>
              <p:spPr>
                <a:xfrm>
                  <a:off x="10266260" y="2229783"/>
                  <a:ext cx="457200" cy="200025"/>
                </a:xfrm>
                <a:prstGeom prst="rect">
                  <a:avLst/>
                </a:prstGeom>
                <a:solidFill>
                  <a:srgbClr val="95C01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9529C4D1-CBD9-0E47-9E6A-670E9F6B6530}"/>
                    </a:ext>
                  </a:extLst>
                </p:cNvPr>
                <p:cNvSpPr/>
                <p:nvPr/>
              </p:nvSpPr>
              <p:spPr>
                <a:xfrm>
                  <a:off x="11221597" y="2234705"/>
                  <a:ext cx="457200" cy="200025"/>
                </a:xfrm>
                <a:prstGeom prst="rect">
                  <a:avLst/>
                </a:prstGeom>
                <a:solidFill>
                  <a:srgbClr val="95C01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8EBF5793-6EB2-864A-A76A-7D37A25437EE}"/>
                    </a:ext>
                  </a:extLst>
                </p:cNvPr>
                <p:cNvSpPr/>
                <p:nvPr/>
              </p:nvSpPr>
              <p:spPr>
                <a:xfrm>
                  <a:off x="10266260" y="2439640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C926D197-C6B7-6940-9825-79EEEFA5648A}"/>
                    </a:ext>
                  </a:extLst>
                </p:cNvPr>
                <p:cNvSpPr/>
                <p:nvPr/>
              </p:nvSpPr>
              <p:spPr>
                <a:xfrm>
                  <a:off x="11221597" y="2444562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9F686D2-DCF7-E84E-8452-70F868469C7C}"/>
                    </a:ext>
                  </a:extLst>
                </p:cNvPr>
                <p:cNvSpPr/>
                <p:nvPr/>
              </p:nvSpPr>
              <p:spPr>
                <a:xfrm>
                  <a:off x="10266260" y="2649497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204F6362-0976-5946-B273-A7C8F18CD22A}"/>
                    </a:ext>
                  </a:extLst>
                </p:cNvPr>
                <p:cNvSpPr/>
                <p:nvPr/>
              </p:nvSpPr>
              <p:spPr>
                <a:xfrm>
                  <a:off x="11221597" y="2654419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4B848ABD-2960-7149-90BD-F758E215589A}"/>
                    </a:ext>
                  </a:extLst>
                </p:cNvPr>
                <p:cNvSpPr/>
                <p:nvPr/>
              </p:nvSpPr>
              <p:spPr>
                <a:xfrm>
                  <a:off x="10266260" y="2859354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5567CAA-FE4C-9442-8417-16A43499E5C8}"/>
                    </a:ext>
                  </a:extLst>
                </p:cNvPr>
                <p:cNvSpPr/>
                <p:nvPr/>
              </p:nvSpPr>
              <p:spPr>
                <a:xfrm>
                  <a:off x="11221597" y="2864276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70106032-3417-BB46-BCAD-C2327599ECA9}"/>
                    </a:ext>
                  </a:extLst>
                </p:cNvPr>
                <p:cNvSpPr/>
                <p:nvPr/>
              </p:nvSpPr>
              <p:spPr>
                <a:xfrm>
                  <a:off x="10747684" y="2234689"/>
                  <a:ext cx="457200" cy="200025"/>
                </a:xfrm>
                <a:prstGeom prst="rect">
                  <a:avLst/>
                </a:prstGeom>
                <a:solidFill>
                  <a:srgbClr val="0293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E4F4B33-9DF0-444B-B905-BA78DC9FC7B7}"/>
                    </a:ext>
                  </a:extLst>
                </p:cNvPr>
                <p:cNvSpPr/>
                <p:nvPr/>
              </p:nvSpPr>
              <p:spPr>
                <a:xfrm>
                  <a:off x="10747684" y="2444546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49B8EB0E-724D-F542-9F15-76825705A58C}"/>
                    </a:ext>
                  </a:extLst>
                </p:cNvPr>
                <p:cNvSpPr/>
                <p:nvPr/>
              </p:nvSpPr>
              <p:spPr>
                <a:xfrm>
                  <a:off x="10747684" y="2654403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6684B738-1DC5-5948-AC30-02AC375C3D08}"/>
                    </a:ext>
                  </a:extLst>
                </p:cNvPr>
                <p:cNvSpPr/>
                <p:nvPr/>
              </p:nvSpPr>
              <p:spPr>
                <a:xfrm>
                  <a:off x="10747684" y="2864260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2470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65EEB6D-8A64-C74E-BA79-1AD8DDCA8EF8}"/>
                  </a:ext>
                </a:extLst>
              </p:cNvPr>
              <p:cNvSpPr txBox="1"/>
              <p:nvPr/>
            </p:nvSpPr>
            <p:spPr>
              <a:xfrm>
                <a:off x="8058322" y="1377951"/>
                <a:ext cx="207808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err="1">
                    <a:solidFill>
                      <a:srgbClr val="9B43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right_join</a:t>
                </a:r>
                <a:r>
                  <a:rPr lang="en-GB">
                    <a:solidFill>
                      <a:srgbClr val="9B43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7261660-78E4-E441-8521-1CC75DB01ACD}"/>
                </a:ext>
              </a:extLst>
            </p:cNvPr>
            <p:cNvSpPr txBox="1"/>
            <p:nvPr/>
          </p:nvSpPr>
          <p:spPr>
            <a:xfrm>
              <a:off x="6765423" y="1501024"/>
              <a:ext cx="4162067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all rows from the ’right’, any matches from the ’left’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7F6677-4703-4148-BF5E-DADFC6FBE2C3}"/>
              </a:ext>
            </a:extLst>
          </p:cNvPr>
          <p:cNvGrpSpPr/>
          <p:nvPr/>
        </p:nvGrpSpPr>
        <p:grpSpPr>
          <a:xfrm>
            <a:off x="1254301" y="1358052"/>
            <a:ext cx="4194842" cy="1766887"/>
            <a:chOff x="1243989" y="1174231"/>
            <a:chExt cx="4194842" cy="1766887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C55B5AB-D8A0-9145-A1D7-AA5C2F68CFCB}"/>
                </a:ext>
              </a:extLst>
            </p:cNvPr>
            <p:cNvGrpSpPr/>
            <p:nvPr/>
          </p:nvGrpSpPr>
          <p:grpSpPr>
            <a:xfrm>
              <a:off x="1243989" y="1174231"/>
              <a:ext cx="4194842" cy="1766887"/>
              <a:chOff x="1259988" y="1385868"/>
              <a:chExt cx="4194842" cy="1766887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F7DE0A48-9362-604E-9A64-85FC604DD2A4}"/>
                  </a:ext>
                </a:extLst>
              </p:cNvPr>
              <p:cNvGrpSpPr/>
              <p:nvPr/>
            </p:nvGrpSpPr>
            <p:grpSpPr>
              <a:xfrm>
                <a:off x="1259988" y="2312631"/>
                <a:ext cx="4194842" cy="840124"/>
                <a:chOff x="2400660" y="2229077"/>
                <a:chExt cx="4194842" cy="840124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93750BB-B1B7-234B-BEC8-D3D381FE11D1}"/>
                    </a:ext>
                  </a:extLst>
                </p:cNvPr>
                <p:cNvGrpSpPr/>
                <p:nvPr/>
              </p:nvGrpSpPr>
              <p:grpSpPr>
                <a:xfrm>
                  <a:off x="2400660" y="2234689"/>
                  <a:ext cx="2312545" cy="834512"/>
                  <a:chOff x="2890838" y="1957388"/>
                  <a:chExt cx="2312545" cy="834512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0CAF1FCB-AA35-F844-82DA-1E5EABAB3C13}"/>
                      </a:ext>
                    </a:extLst>
                  </p:cNvPr>
                  <p:cNvGrpSpPr/>
                  <p:nvPr/>
                </p:nvGrpSpPr>
                <p:grpSpPr>
                  <a:xfrm>
                    <a:off x="2890838" y="1957388"/>
                    <a:ext cx="933450" cy="829596"/>
                    <a:chOff x="2890838" y="1957388"/>
                    <a:chExt cx="933450" cy="829596"/>
                  </a:xfrm>
                </p:grpSpPr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70D9864A-672B-5C44-AA34-8D2748473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E58EF570-776A-694A-9D39-F0E173C2A8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97B040BD-1192-F44A-AA59-A4DAACCB7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9AE6CB8D-F096-1242-AAE7-739CEA393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564EFEEB-8A9B-6F4A-884C-78543F882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" name="Rectangle 11">
                      <a:extLst>
                        <a:ext uri="{FF2B5EF4-FFF2-40B4-BE49-F238E27FC236}">
                          <a16:creationId xmlns:a16="http://schemas.microsoft.com/office/drawing/2014/main" id="{08A7C50A-8175-F74A-992C-120385CDA3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B3DA39BC-9B6E-3B40-89F3-CB49E0021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050C4452-B68F-E34D-9B78-E1CA52EA6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708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0293D3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7E7B6B65-378E-A448-A249-2864D801C798}"/>
                      </a:ext>
                    </a:extLst>
                  </p:cNvPr>
                  <p:cNvGrpSpPr/>
                  <p:nvPr/>
                </p:nvGrpSpPr>
                <p:grpSpPr>
                  <a:xfrm>
                    <a:off x="4272270" y="1962304"/>
                    <a:ext cx="931113" cy="829596"/>
                    <a:chOff x="2890838" y="1957388"/>
                    <a:chExt cx="931113" cy="829596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AA2063D-DF97-6945-917B-F730D9F48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AA20A8B4-CBF1-9241-8CC6-DC4EAD6A4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1957388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90EAD4E7-0C30-5842-A1DB-AF0787810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82B9938E-4CC7-5648-9031-6B7FA9A9C6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167245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11383929-3868-3B48-AC55-916E4FBCD3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0DB2BD20-381F-C245-AB2E-7348C20954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377102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82EBF6F9-6D8D-EE40-9002-9FEE7F386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90838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72C1721-954E-CD46-BF55-D63AE3041E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4751" y="2586959"/>
                      <a:ext cx="457200" cy="200025"/>
                    </a:xfrm>
                    <a:prstGeom prst="rect">
                      <a:avLst/>
                    </a:prstGeom>
                    <a:solidFill>
                      <a:srgbClr val="95C01D">
                        <a:alpha val="50196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cxnSp>
                <p:nvCxnSpPr>
                  <p:cNvPr id="26" name="Curved Connector 25">
                    <a:extLst>
                      <a:ext uri="{FF2B5EF4-FFF2-40B4-BE49-F238E27FC236}">
                        <a16:creationId xmlns:a16="http://schemas.microsoft.com/office/drawing/2014/main" id="{B94A0284-8338-CD48-8809-6705D65DE2BB}"/>
                      </a:ext>
                    </a:extLst>
                  </p:cNvPr>
                  <p:cNvCxnSpPr>
                    <a:stCxn id="12" idx="3"/>
                    <a:endCxn id="19" idx="1"/>
                  </p:cNvCxnSpPr>
                  <p:nvPr/>
                </p:nvCxnSpPr>
                <p:spPr>
                  <a:xfrm flipV="1">
                    <a:off x="3824288" y="2272174"/>
                    <a:ext cx="447982" cy="204941"/>
                  </a:xfrm>
                  <a:prstGeom prst="curvedConnector3">
                    <a:avLst/>
                  </a:prstGeom>
                  <a:ln>
                    <a:solidFill>
                      <a:srgbClr val="9B439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Curved Connector 26">
                    <a:extLst>
                      <a:ext uri="{FF2B5EF4-FFF2-40B4-BE49-F238E27FC236}">
                        <a16:creationId xmlns:a16="http://schemas.microsoft.com/office/drawing/2014/main" id="{2A06BC07-72CE-E441-A318-029BA77FACA3}"/>
                      </a:ext>
                    </a:extLst>
                  </p:cNvPr>
                  <p:cNvCxnSpPr>
                    <a:cxnSpLocks/>
                    <a:stCxn id="14" idx="3"/>
                    <a:endCxn id="21" idx="1"/>
                  </p:cNvCxnSpPr>
                  <p:nvPr/>
                </p:nvCxnSpPr>
                <p:spPr>
                  <a:xfrm flipV="1">
                    <a:off x="3824288" y="2482031"/>
                    <a:ext cx="447982" cy="204941"/>
                  </a:xfrm>
                  <a:prstGeom prst="curvedConnector3">
                    <a:avLst/>
                  </a:prstGeom>
                  <a:ln>
                    <a:solidFill>
                      <a:srgbClr val="9B439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D851EF75-1317-3B48-9969-12046BCE6B7D}"/>
                    </a:ext>
                  </a:extLst>
                </p:cNvPr>
                <p:cNvSpPr/>
                <p:nvPr/>
              </p:nvSpPr>
              <p:spPr>
                <a:xfrm>
                  <a:off x="5181242" y="2236223"/>
                  <a:ext cx="457200" cy="200025"/>
                </a:xfrm>
                <a:prstGeom prst="rect">
                  <a:avLst/>
                </a:prstGeom>
                <a:solidFill>
                  <a:srgbClr val="0293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649E4BF3-0081-EE41-8EDD-8C7335BBC499}"/>
                    </a:ext>
                  </a:extLst>
                </p:cNvPr>
                <p:cNvSpPr/>
                <p:nvPr/>
              </p:nvSpPr>
              <p:spPr>
                <a:xfrm>
                  <a:off x="5657492" y="2236223"/>
                  <a:ext cx="457200" cy="200025"/>
                </a:xfrm>
                <a:prstGeom prst="rect">
                  <a:avLst/>
                </a:prstGeom>
                <a:solidFill>
                  <a:srgbClr val="0293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195A2E25-FF4F-7D45-9D37-A205F939F8F2}"/>
                    </a:ext>
                  </a:extLst>
                </p:cNvPr>
                <p:cNvSpPr/>
                <p:nvPr/>
              </p:nvSpPr>
              <p:spPr>
                <a:xfrm>
                  <a:off x="5181242" y="2446080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8597F9E9-06D9-D348-9403-E637109BD675}"/>
                    </a:ext>
                  </a:extLst>
                </p:cNvPr>
                <p:cNvSpPr/>
                <p:nvPr/>
              </p:nvSpPr>
              <p:spPr>
                <a:xfrm>
                  <a:off x="5657492" y="2446080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EA91594C-6A4C-884A-8601-EB6A957FEE69}"/>
                    </a:ext>
                  </a:extLst>
                </p:cNvPr>
                <p:cNvSpPr/>
                <p:nvPr/>
              </p:nvSpPr>
              <p:spPr>
                <a:xfrm>
                  <a:off x="5181242" y="2655937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2AB6E864-A201-3440-AECE-D508FE1961EF}"/>
                    </a:ext>
                  </a:extLst>
                </p:cNvPr>
                <p:cNvSpPr/>
                <p:nvPr/>
              </p:nvSpPr>
              <p:spPr>
                <a:xfrm>
                  <a:off x="5657492" y="2655937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56AD363F-EAFD-4D42-9907-D7A1FA529C5A}"/>
                    </a:ext>
                  </a:extLst>
                </p:cNvPr>
                <p:cNvSpPr/>
                <p:nvPr/>
              </p:nvSpPr>
              <p:spPr>
                <a:xfrm>
                  <a:off x="5181242" y="2865794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0D769AD5-4399-0144-BC6A-ED05EACE0472}"/>
                    </a:ext>
                  </a:extLst>
                </p:cNvPr>
                <p:cNvSpPr/>
                <p:nvPr/>
              </p:nvSpPr>
              <p:spPr>
                <a:xfrm>
                  <a:off x="5657492" y="2865794"/>
                  <a:ext cx="457200" cy="200025"/>
                </a:xfrm>
                <a:prstGeom prst="rect">
                  <a:avLst/>
                </a:prstGeom>
                <a:solidFill>
                  <a:srgbClr val="0293D3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59BE9E01-BD02-5041-A97D-D1C2B35C3C18}"/>
                    </a:ext>
                  </a:extLst>
                </p:cNvPr>
                <p:cNvSpPr/>
                <p:nvPr/>
              </p:nvSpPr>
              <p:spPr>
                <a:xfrm>
                  <a:off x="6138302" y="2229077"/>
                  <a:ext cx="457200" cy="200025"/>
                </a:xfrm>
                <a:prstGeom prst="rect">
                  <a:avLst/>
                </a:prstGeom>
                <a:solidFill>
                  <a:srgbClr val="95C01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1A4923D7-56BD-1549-839C-BAB76A1A0DA3}"/>
                    </a:ext>
                  </a:extLst>
                </p:cNvPr>
                <p:cNvSpPr/>
                <p:nvPr/>
              </p:nvSpPr>
              <p:spPr>
                <a:xfrm>
                  <a:off x="6138302" y="2438934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2470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81178A4E-75FE-F84B-BF4D-6EF39758DFF5}"/>
                    </a:ext>
                  </a:extLst>
                </p:cNvPr>
                <p:cNvSpPr/>
                <p:nvPr/>
              </p:nvSpPr>
              <p:spPr>
                <a:xfrm>
                  <a:off x="6138302" y="2648791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F9EF5B0-F5CC-5947-BAB9-97006BD719DD}"/>
                    </a:ext>
                  </a:extLst>
                </p:cNvPr>
                <p:cNvSpPr/>
                <p:nvPr/>
              </p:nvSpPr>
              <p:spPr>
                <a:xfrm>
                  <a:off x="6138302" y="2858648"/>
                  <a:ext cx="457200" cy="200025"/>
                </a:xfrm>
                <a:prstGeom prst="rect">
                  <a:avLst/>
                </a:prstGeom>
                <a:solidFill>
                  <a:srgbClr val="95C01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77D8ECAF-1BE7-9648-A8FB-126B3BD6107D}"/>
                  </a:ext>
                </a:extLst>
              </p:cNvPr>
              <p:cNvSpPr txBox="1"/>
              <p:nvPr/>
            </p:nvSpPr>
            <p:spPr>
              <a:xfrm>
                <a:off x="2260718" y="1385868"/>
                <a:ext cx="2078087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err="1">
                    <a:solidFill>
                      <a:srgbClr val="9B43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left_join</a:t>
                </a:r>
                <a:r>
                  <a:rPr lang="en-GB">
                    <a:solidFill>
                      <a:srgbClr val="9B439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0017506-8143-2A4F-8E11-0649C2DC923F}"/>
                </a:ext>
              </a:extLst>
            </p:cNvPr>
            <p:cNvSpPr txBox="1"/>
            <p:nvPr/>
          </p:nvSpPr>
          <p:spPr>
            <a:xfrm>
              <a:off x="1260377" y="1538662"/>
              <a:ext cx="4162067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>
                  <a:solidFill>
                    <a:srgbClr val="9B439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all rows from the ‘left’, any matches from the ‘right’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753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209F-51CB-5843-B12C-17C8C4ED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Skills</a:t>
            </a:r>
          </a:p>
        </p:txBody>
      </p:sp>
    </p:spTree>
    <p:extLst>
      <p:ext uri="{BB962C8B-B14F-4D97-AF65-F5344CB8AC3E}">
        <p14:creationId xmlns:p14="http://schemas.microsoft.com/office/powerpoint/2010/main" val="7734661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72988"/>
            <a:ext cx="10515600" cy="456220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Review warnings/errors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these can appear cryptic but use Google and some will become familiar. Checking the functions could help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>
                <a:latin typeface="+mj-lt"/>
                <a:cs typeface="Courier New" panose="02070309020205020404" pitchFamily="49" charset="0"/>
              </a:rPr>
              <a:t> 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?&lt;function&gt;</a:t>
            </a:r>
            <a:b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Narrow the problem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step through the code one line at a time, isolating the issue.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9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sz="1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Google/Stack Overflow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– this can be specific to the bug or more general to the problem you’re trying to solve.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9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>
                <a:latin typeface="+mj-lt"/>
                <a:cs typeface="Calibri" panose="020F0502020204030204" pitchFamily="34" charset="0"/>
              </a:rPr>
              <a:t>Pair up </a:t>
            </a:r>
            <a:r>
              <a:rPr lang="en-US">
                <a:latin typeface="+mj-lt"/>
                <a:cs typeface="Calibri Light" panose="020F0302020204030204" pitchFamily="34" charset="0"/>
              </a:rPr>
              <a:t>– sometimes a fresh pair of eyes makes the difference. Post a message on the </a:t>
            </a:r>
            <a:r>
              <a:rPr lang="en-GB">
                <a:latin typeface="+mj-lt"/>
                <a:hlinkClick r:id="rId3"/>
              </a:rPr>
              <a:t>PHS Data and Intelligence Forum | Posit Technical Queries | Microsoft Teams</a:t>
            </a:r>
            <a:r>
              <a:rPr lang="en-GB">
                <a:latin typeface="+mj-lt"/>
              </a:rPr>
              <a:t> or PHS Data and Intelligence Forum | Beginners Channel | Microsoft Teams</a:t>
            </a:r>
            <a:endParaRPr lang="en-US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6559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Debugging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CA33CB-CBB2-8C4E-A35C-8703C9ED6409}"/>
              </a:ext>
            </a:extLst>
          </p:cNvPr>
          <p:cNvGrpSpPr/>
          <p:nvPr/>
        </p:nvGrpSpPr>
        <p:grpSpPr>
          <a:xfrm>
            <a:off x="1088941" y="1125545"/>
            <a:ext cx="10296097" cy="4650978"/>
            <a:chOff x="1088941" y="1125545"/>
            <a:chExt cx="10296097" cy="4650978"/>
          </a:xfrm>
        </p:grpSpPr>
        <p:pic>
          <p:nvPicPr>
            <p:cNvPr id="7" name="Picture 6" descr="Chart, bubble chart&#10;&#10;Description automatically generated">
              <a:extLst>
                <a:ext uri="{FF2B5EF4-FFF2-40B4-BE49-F238E27FC236}">
                  <a16:creationId xmlns:a16="http://schemas.microsoft.com/office/drawing/2014/main" id="{D6A4570F-1EB6-D648-9812-AC72EE72E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48" t="53514" r="75113" b="4748"/>
            <a:stretch/>
          </p:blipFill>
          <p:spPr>
            <a:xfrm>
              <a:off x="1088941" y="3377211"/>
              <a:ext cx="1651002" cy="2369345"/>
            </a:xfrm>
            <a:prstGeom prst="rect">
              <a:avLst/>
            </a:prstGeom>
          </p:spPr>
        </p:pic>
        <p:pic>
          <p:nvPicPr>
            <p:cNvPr id="8" name="Picture 7" descr="Chart, bubble chart&#10;&#10;Description automatically generated">
              <a:extLst>
                <a:ext uri="{FF2B5EF4-FFF2-40B4-BE49-F238E27FC236}">
                  <a16:creationId xmlns:a16="http://schemas.microsoft.com/office/drawing/2014/main" id="{16BDF761-A4F4-4040-B82A-2476417EB9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13" t="14042" r="8557" b="52924"/>
            <a:stretch/>
          </p:blipFill>
          <p:spPr>
            <a:xfrm>
              <a:off x="9683751" y="1125545"/>
              <a:ext cx="1511298" cy="1875232"/>
            </a:xfrm>
            <a:prstGeom prst="rect">
              <a:avLst/>
            </a:prstGeom>
          </p:spPr>
        </p:pic>
        <p:pic>
          <p:nvPicPr>
            <p:cNvPr id="9" name="Picture 8" descr="Chart, bubble chart&#10;&#10;Description automatically generated">
              <a:extLst>
                <a:ext uri="{FF2B5EF4-FFF2-40B4-BE49-F238E27FC236}">
                  <a16:creationId xmlns:a16="http://schemas.microsoft.com/office/drawing/2014/main" id="{B98DCEF8-4596-6048-AEE6-96F23342BB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08" t="14041" r="58052" b="12865"/>
            <a:stretch/>
          </p:blipFill>
          <p:spPr>
            <a:xfrm>
              <a:off x="3106530" y="1302546"/>
              <a:ext cx="1651001" cy="4149330"/>
            </a:xfrm>
            <a:prstGeom prst="rect">
              <a:avLst/>
            </a:prstGeom>
          </p:spPr>
        </p:pic>
        <p:pic>
          <p:nvPicPr>
            <p:cNvPr id="10" name="Picture 9" descr="Chart, bubble chart&#10;&#10;Description automatically generated">
              <a:extLst>
                <a:ext uri="{FF2B5EF4-FFF2-40B4-BE49-F238E27FC236}">
                  <a16:creationId xmlns:a16="http://schemas.microsoft.com/office/drawing/2014/main" id="{6F699029-0F9C-2A45-8F78-0E7E9A4097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81" t="14041" r="41379" b="54092"/>
            <a:stretch/>
          </p:blipFill>
          <p:spPr>
            <a:xfrm>
              <a:off x="5172303" y="1169402"/>
              <a:ext cx="1651001" cy="1808954"/>
            </a:xfrm>
            <a:prstGeom prst="rect">
              <a:avLst/>
            </a:prstGeom>
          </p:spPr>
        </p:pic>
        <p:pic>
          <p:nvPicPr>
            <p:cNvPr id="11" name="Picture 10" descr="Chart, bubble chart&#10;&#10;Description automatically generated">
              <a:extLst>
                <a:ext uri="{FF2B5EF4-FFF2-40B4-BE49-F238E27FC236}">
                  <a16:creationId xmlns:a16="http://schemas.microsoft.com/office/drawing/2014/main" id="{47E97AE0-21FE-6B45-891E-9C3BE50E38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10" t="51501" r="23240" b="4747"/>
            <a:stretch/>
          </p:blipFill>
          <p:spPr>
            <a:xfrm>
              <a:off x="7288839" y="3216083"/>
              <a:ext cx="1790702" cy="2483646"/>
            </a:xfrm>
            <a:prstGeom prst="rect">
              <a:avLst/>
            </a:prstGeom>
          </p:spPr>
        </p:pic>
        <p:pic>
          <p:nvPicPr>
            <p:cNvPr id="12" name="Picture 11" descr="Chart, bubble chart&#10;&#10;Description automatically generated">
              <a:extLst>
                <a:ext uri="{FF2B5EF4-FFF2-40B4-BE49-F238E27FC236}">
                  <a16:creationId xmlns:a16="http://schemas.microsoft.com/office/drawing/2014/main" id="{B507A90D-D2EE-F149-8377-4C0B6601B2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81" t="46356" r="41379" b="4747"/>
            <a:stretch/>
          </p:blipFill>
          <p:spPr>
            <a:xfrm>
              <a:off x="5146802" y="3000777"/>
              <a:ext cx="1651001" cy="2775746"/>
            </a:xfrm>
            <a:prstGeom prst="rect">
              <a:avLst/>
            </a:prstGeom>
          </p:spPr>
        </p:pic>
        <p:pic>
          <p:nvPicPr>
            <p:cNvPr id="13" name="Picture 12" descr="Chart, bubble chart&#10;&#10;Description automatically generated">
              <a:extLst>
                <a:ext uri="{FF2B5EF4-FFF2-40B4-BE49-F238E27FC236}">
                  <a16:creationId xmlns:a16="http://schemas.microsoft.com/office/drawing/2014/main" id="{AF5A1A3B-E98C-F745-BB91-2BE0023D1A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10" t="14042" r="24931" b="52924"/>
            <a:stretch/>
          </p:blipFill>
          <p:spPr>
            <a:xfrm>
              <a:off x="7288839" y="1191827"/>
              <a:ext cx="1634204" cy="1875232"/>
            </a:xfrm>
            <a:prstGeom prst="rect">
              <a:avLst/>
            </a:prstGeom>
          </p:spPr>
        </p:pic>
        <p:pic>
          <p:nvPicPr>
            <p:cNvPr id="14" name="Picture 13" descr="Chart, bubble chart&#10;&#10;Description automatically generated">
              <a:extLst>
                <a:ext uri="{FF2B5EF4-FFF2-40B4-BE49-F238E27FC236}">
                  <a16:creationId xmlns:a16="http://schemas.microsoft.com/office/drawing/2014/main" id="{89570451-EE9C-F047-A978-307AB0E0B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359" t="49264" r="3205" b="10592"/>
            <a:stretch/>
          </p:blipFill>
          <p:spPr>
            <a:xfrm>
              <a:off x="9493763" y="2978356"/>
              <a:ext cx="1891275" cy="2278854"/>
            </a:xfrm>
            <a:prstGeom prst="rect">
              <a:avLst/>
            </a:prstGeom>
          </p:spPr>
        </p:pic>
        <p:pic>
          <p:nvPicPr>
            <p:cNvPr id="15" name="Picture 14" descr="Chart, bubble chart&#10;&#10;Description automatically generated">
              <a:extLst>
                <a:ext uri="{FF2B5EF4-FFF2-40B4-BE49-F238E27FC236}">
                  <a16:creationId xmlns:a16="http://schemas.microsoft.com/office/drawing/2014/main" id="{7512C85E-7C17-EB4A-BE15-055689E6EC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48" t="14041" r="75113" b="53197"/>
            <a:stretch/>
          </p:blipFill>
          <p:spPr>
            <a:xfrm>
              <a:off x="1146864" y="1302546"/>
              <a:ext cx="1651002" cy="1859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34594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0EF7B4E-C1AE-624C-927B-AA0923AEBDF5}"/>
              </a:ext>
            </a:extLst>
          </p:cNvPr>
          <p:cNvGrpSpPr/>
          <p:nvPr/>
        </p:nvGrpSpPr>
        <p:grpSpPr>
          <a:xfrm>
            <a:off x="1409700" y="431800"/>
            <a:ext cx="9372600" cy="5207000"/>
            <a:chOff x="1409700" y="431800"/>
            <a:chExt cx="9372600" cy="5207000"/>
          </a:xfrm>
        </p:grpSpPr>
        <p:pic>
          <p:nvPicPr>
            <p:cNvPr id="9" name="Picture 8" descr="Diagram&#10;&#10;Description automatically generated">
              <a:extLst>
                <a:ext uri="{FF2B5EF4-FFF2-40B4-BE49-F238E27FC236}">
                  <a16:creationId xmlns:a16="http://schemas.microsoft.com/office/drawing/2014/main" id="{B6BB81EC-298B-BE4F-9473-26C0D19A73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06" b="19969"/>
            <a:stretch/>
          </p:blipFill>
          <p:spPr>
            <a:xfrm>
              <a:off x="1409700" y="431800"/>
              <a:ext cx="9372600" cy="4673600"/>
            </a:xfrm>
            <a:prstGeom prst="rect">
              <a:avLst/>
            </a:prstGeom>
          </p:spPr>
        </p:pic>
        <p:pic>
          <p:nvPicPr>
            <p:cNvPr id="10" name="Picture 9" descr="Diagram&#10;&#10;Description automatically generated">
              <a:extLst>
                <a:ext uri="{FF2B5EF4-FFF2-40B4-BE49-F238E27FC236}">
                  <a16:creationId xmlns:a16="http://schemas.microsoft.com/office/drawing/2014/main" id="{71E359FB-13B4-E343-A252-373138B887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79814" r="34186" b="10835"/>
            <a:stretch/>
          </p:blipFill>
          <p:spPr>
            <a:xfrm>
              <a:off x="1409700" y="5092700"/>
              <a:ext cx="6527800" cy="546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35782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1C36-43AA-FE4B-BC8F-221FAB3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Continuous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96-989C-D84A-AF1E-7EA2FA478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8"/>
            <a:ext cx="10515600" cy="40095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Data Science Knowledge Base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the place for all content related to Data Science learning:</a:t>
            </a:r>
            <a:b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9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Review, Follow, and Contribute to Guidance </a:t>
            </a:r>
            <a:r>
              <a:rPr lang="en-US" sz="2400">
                <a:latin typeface="Calibri Light" panose="020F0302020204030204" pitchFamily="34" charset="0"/>
                <a:cs typeface="Calibri Light" panose="020F0302020204030204" pitchFamily="34" charset="0"/>
              </a:rPr>
              <a:t>– guidance is for sharing best practice, maintaining security, and improving efficiency.</a:t>
            </a:r>
            <a:br>
              <a:rPr lang="en-US" sz="24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9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Expand your skills </a:t>
            </a:r>
            <a:r>
              <a:rPr lang="en-US" sz="2400">
                <a:latin typeface="Calibri Light" panose="020F0302020204030204" pitchFamily="34" charset="0"/>
                <a:cs typeface="Calibri Light" panose="020F0302020204030204" pitchFamily="34" charset="0"/>
              </a:rPr>
              <a:t>– take another course to build your R skills or on related technologies (e.g. Git). </a:t>
            </a:r>
            <a:br>
              <a:rPr lang="en-US" sz="24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90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Keep up to date </a:t>
            </a:r>
            <a:r>
              <a:rPr lang="en-US" sz="2400">
                <a:latin typeface="Calibri Light" panose="020F0302020204030204" pitchFamily="34" charset="0"/>
                <a:cs typeface="Calibri Light" panose="020F0302020204030204" pitchFamily="34" charset="0"/>
              </a:rPr>
              <a:t>– our infrastructure is improving, we support knowledge sharing events, and so much more!</a:t>
            </a:r>
          </a:p>
        </p:txBody>
      </p:sp>
    </p:spTree>
    <p:extLst>
      <p:ext uri="{BB962C8B-B14F-4D97-AF65-F5344CB8AC3E}">
        <p14:creationId xmlns:p14="http://schemas.microsoft.com/office/powerpoint/2010/main" val="11575707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3ADC-EFCA-0E48-92AA-0B533A07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4163167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5521-9DBE-3E44-9381-2AEFC8D9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2140B-251F-634E-B14B-451E59F19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576888" cy="4009567"/>
          </a:xfrm>
        </p:spPr>
        <p:txBody>
          <a:bodyPr anchor="t"/>
          <a:lstStyle/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scotland.shinyapps.io/phs-rtraining-intro/</a:t>
            </a: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Day 2 Project – Handwashing</a:t>
            </a:r>
          </a:p>
          <a:p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Feel free to follow along for the project on the app or build a script on Posit Workbench</a:t>
            </a:r>
          </a:p>
        </p:txBody>
      </p:sp>
      <p:pic>
        <p:nvPicPr>
          <p:cNvPr id="7" name="Content Placeholder 5" descr="Lightbulb and pencil">
            <a:extLst>
              <a:ext uri="{FF2B5EF4-FFF2-40B4-BE49-F238E27FC236}">
                <a16:creationId xmlns:a16="http://schemas.microsoft.com/office/drawing/2014/main" id="{F677C909-41DD-9B45-9375-12C0A6115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5575" y="2151856"/>
            <a:ext cx="2554288" cy="255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915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4FB2-376C-6E4F-A088-5DA91CA3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620AD-847F-234D-82CA-B5B382D158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Homework project &amp; day 3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Embed your new knowledge and skills!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Expand your knowledge and skills with related technologies (e.g. git)</a:t>
            </a:r>
          </a:p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Take R Further - look at other training opportunities (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phsmethods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6" name="Content Placeholder 5" descr="Dance steps">
            <a:extLst>
              <a:ext uri="{FF2B5EF4-FFF2-40B4-BE49-F238E27FC236}">
                <a16:creationId xmlns:a16="http://schemas.microsoft.com/office/drawing/2014/main" id="{9F48EED4-E694-1F49-B4D7-429AAB4958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795" y="2169000"/>
            <a:ext cx="2520000" cy="2520000"/>
          </a:xfrm>
        </p:spPr>
      </p:pic>
    </p:spTree>
    <p:extLst>
      <p:ext uri="{BB962C8B-B14F-4D97-AF65-F5344CB8AC3E}">
        <p14:creationId xmlns:p14="http://schemas.microsoft.com/office/powerpoint/2010/main" val="11983400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5521-9DBE-3E44-9381-2AEFC8D9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23583"/>
                </a:solidFill>
              </a:rPr>
              <a:t>Getting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2140B-251F-634E-B14B-451E59F19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8"/>
            <a:ext cx="5576888" cy="4009567"/>
          </a:xfrm>
        </p:spPr>
        <p:txBody>
          <a:bodyPr anchor="t">
            <a:normAutofit fontScale="92500" lnSpcReduction="10000"/>
          </a:bodyPr>
          <a:lstStyle/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Vignettes (Help) /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?&lt;function&gt;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Google / Stack Overflow</a:t>
            </a:r>
          </a:p>
          <a:p>
            <a:pPr lvl="1"/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tag queries "[r] &amp; [</a:t>
            </a:r>
            <a:r>
              <a:rPr lang="en-US" err="1">
                <a:latin typeface="Calibri Light" panose="020F0302020204030204" pitchFamily="34" charset="0"/>
                <a:cs typeface="Calibri Light" panose="020F0302020204030204" pitchFamily="34" charset="0"/>
              </a:rPr>
              <a:t>tidyverse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]“</a:t>
            </a: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+mj-lt"/>
                <a:hlinkClick r:id="rId3"/>
              </a:rPr>
              <a:t>PHS Data Science - Knowledge Base (public-health-scotland.github.io)</a:t>
            </a:r>
            <a:endParaRPr lang="en-US">
              <a:latin typeface="+mj-lt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PHS Data and Intelligence Forum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1"/>
            <a:r>
              <a:rPr lang="en-US" sz="2200">
                <a:latin typeface="+mj-lt"/>
                <a:cs typeface="Calibri Light" panose="020F0302020204030204" pitchFamily="34" charset="0"/>
                <a:hlinkClick r:id="rId5"/>
              </a:rPr>
              <a:t>Technical Queries</a:t>
            </a:r>
            <a:endParaRPr lang="en-US" sz="2200">
              <a:latin typeface="+mj-lt"/>
              <a:cs typeface="Calibri Light" panose="020F0302020204030204" pitchFamily="34" charset="0"/>
            </a:endParaRPr>
          </a:p>
          <a:p>
            <a:pPr lvl="1"/>
            <a:r>
              <a:rPr lang="en-GB" sz="2200">
                <a:latin typeface="+mj-lt"/>
                <a:hlinkClick r:id="rId6"/>
              </a:rPr>
              <a:t>PHS Data and Intelligence Forum | Beginners Channel | Microsoft Teams</a:t>
            </a:r>
            <a:endParaRPr lang="en-US" sz="2200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151198-7A9A-0C4E-B751-218BA65F7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0" y="2152650"/>
            <a:ext cx="2552700" cy="2552700"/>
          </a:xfrm>
        </p:spPr>
      </p:pic>
    </p:spTree>
    <p:extLst>
      <p:ext uri="{BB962C8B-B14F-4D97-AF65-F5344CB8AC3E}">
        <p14:creationId xmlns:p14="http://schemas.microsoft.com/office/powerpoint/2010/main" val="28334233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C41B83-30FD-7645-96B9-D7467A0486E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6" r="7361" b="51481"/>
          <a:stretch/>
        </p:blipFill>
        <p:spPr>
          <a:xfrm>
            <a:off x="698500" y="1282700"/>
            <a:ext cx="5397500" cy="3327400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F14588F-BC30-C243-9F95-37F60535720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9" t="48149" r="11573" b="-741"/>
          <a:stretch/>
        </p:blipFill>
        <p:spPr>
          <a:xfrm>
            <a:off x="6602647" y="1073150"/>
            <a:ext cx="4890853" cy="37465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8191E-8DB7-D746-AA55-CDA05A3D48A1}"/>
              </a:ext>
            </a:extLst>
          </p:cNvPr>
          <p:cNvSpPr txBox="1">
            <a:spLocks/>
          </p:cNvSpPr>
          <p:nvPr/>
        </p:nvSpPr>
        <p:spPr>
          <a:xfrm>
            <a:off x="800100" y="5435600"/>
            <a:ext cx="5892800" cy="47579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All artwork in these slides is by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@</a:t>
            </a:r>
            <a:r>
              <a:rPr lang="en-US" err="1">
                <a:latin typeface="Calibri Light" panose="020F0302020204030204" pitchFamily="34" charset="0"/>
                <a:cs typeface="Calibri Light" panose="020F0302020204030204" pitchFamily="34" charset="0"/>
                <a:hlinkClick r:id="rId5"/>
              </a:rPr>
              <a:t>allison_horst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196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D2E9-C0D9-671C-0B49-EE05A36B27DE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600">
                <a:solidFill>
                  <a:srgbClr val="423583"/>
                </a:solidFill>
              </a:rPr>
              <a:t>Feedback</a:t>
            </a:r>
            <a:endParaRPr lang="en-US">
              <a:solidFill>
                <a:srgbClr val="42358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A28DE-1A08-1649-ABED-ECE9AE4919FF}"/>
              </a:ext>
            </a:extLst>
          </p:cNvPr>
          <p:cNvSpPr txBox="1">
            <a:spLocks/>
          </p:cNvSpPr>
          <p:nvPr/>
        </p:nvSpPr>
        <p:spPr>
          <a:xfrm>
            <a:off x="838199" y="1251283"/>
            <a:ext cx="10968789" cy="4764505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>
                <a:latin typeface="+mj-lt"/>
                <a:cs typeface="Calibri Light" panose="020F0302020204030204" pitchFamily="34" charset="0"/>
              </a:rPr>
              <a:t>Spend 5 Minutes making some notes </a:t>
            </a:r>
          </a:p>
          <a:p>
            <a:pPr lvl="1"/>
            <a:r>
              <a:rPr lang="en-US" sz="2600">
                <a:latin typeface="+mj-lt"/>
                <a:cs typeface="Calibri Light" panose="020F0302020204030204" pitchFamily="34" charset="0"/>
              </a:rPr>
              <a:t>(somewhere you won’t lose them!)</a:t>
            </a:r>
          </a:p>
          <a:p>
            <a:pPr lvl="1"/>
            <a:r>
              <a:rPr lang="en-US" sz="2600">
                <a:latin typeface="+mj-lt"/>
                <a:cs typeface="Calibri Light" panose="020F0302020204030204" pitchFamily="34" charset="0"/>
              </a:rPr>
              <a:t>There will be a full </a:t>
            </a:r>
            <a:r>
              <a:rPr lang="en-US" sz="2600">
                <a:latin typeface="+mn-lt"/>
                <a:cs typeface="Calibri Light" panose="020F0302020204030204" pitchFamily="34" charset="0"/>
              </a:rPr>
              <a:t>feedback form </a:t>
            </a:r>
            <a:r>
              <a:rPr lang="en-US" sz="2600">
                <a:latin typeface="+mj-lt"/>
                <a:cs typeface="Calibri Light" panose="020F0302020204030204" pitchFamily="34" charset="0"/>
              </a:rPr>
              <a:t>at the </a:t>
            </a:r>
            <a:r>
              <a:rPr lang="en-US" sz="2600">
                <a:latin typeface="+mn-lt"/>
                <a:cs typeface="Calibri Light" panose="020F0302020204030204" pitchFamily="34" charset="0"/>
              </a:rPr>
              <a:t>end</a:t>
            </a:r>
            <a:r>
              <a:rPr lang="en-US" sz="2600">
                <a:latin typeface="+mj-lt"/>
                <a:cs typeface="Calibri Light" panose="020F0302020204030204" pitchFamily="34" charset="0"/>
              </a:rPr>
              <a:t> of </a:t>
            </a:r>
            <a:r>
              <a:rPr lang="en-US" sz="2600">
                <a:latin typeface="+mn-lt"/>
                <a:cs typeface="Calibri Light" panose="020F0302020204030204" pitchFamily="34" charset="0"/>
              </a:rPr>
              <a:t>session 3</a:t>
            </a:r>
          </a:p>
          <a:p>
            <a:pPr lvl="1"/>
            <a:r>
              <a:rPr lang="en-US" sz="2600">
                <a:latin typeface="+mj-lt"/>
                <a:cs typeface="Calibri Light" panose="020F0302020204030204" pitchFamily="34" charset="0"/>
              </a:rPr>
              <a:t>Things to consider: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How was the </a:t>
            </a:r>
            <a:r>
              <a:rPr lang="en-US" sz="3000">
                <a:cs typeface="Calibri Light" panose="020F0302020204030204" pitchFamily="34" charset="0"/>
              </a:rPr>
              <a:t>pre-course checklist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and </a:t>
            </a:r>
            <a:r>
              <a:rPr lang="en-US" sz="3000">
                <a:cs typeface="Calibri Light" panose="020F0302020204030204" pitchFamily="34" charset="0"/>
              </a:rPr>
              <a:t>session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How do you feel about the </a:t>
            </a:r>
            <a:r>
              <a:rPr lang="en-US" sz="3000">
                <a:cs typeface="Calibri Light" panose="020F0302020204030204" pitchFamily="34" charset="0"/>
              </a:rPr>
              <a:t>content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of the course?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How do you feel about the </a:t>
            </a:r>
            <a:r>
              <a:rPr lang="en-US" sz="3000">
                <a:cs typeface="Calibri Light" panose="020F0302020204030204" pitchFamily="34" charset="0"/>
              </a:rPr>
              <a:t>way the course was delivered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Has your level of </a:t>
            </a:r>
            <a:r>
              <a:rPr lang="en-US" sz="3000">
                <a:cs typeface="Calibri Light" panose="020F0302020204030204" pitchFamily="34" charset="0"/>
              </a:rPr>
              <a:t>confidence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and </a:t>
            </a:r>
            <a:r>
              <a:rPr lang="en-US" sz="3000">
                <a:cs typeface="Calibri Light" panose="020F0302020204030204" pitchFamily="34" charset="0"/>
              </a:rPr>
              <a:t>knowledge changed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What did you find </a:t>
            </a:r>
            <a:r>
              <a:rPr lang="en-US" sz="3000">
                <a:cs typeface="Calibri Light" panose="020F0302020204030204" pitchFamily="34" charset="0"/>
              </a:rPr>
              <a:t>useful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? What did you </a:t>
            </a:r>
            <a:r>
              <a:rPr lang="en-US" sz="3000">
                <a:cs typeface="Calibri Light" panose="020F0302020204030204" pitchFamily="34" charset="0"/>
              </a:rPr>
              <a:t>not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find useful?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What did you </a:t>
            </a:r>
            <a:r>
              <a:rPr lang="en-US" sz="3000">
                <a:cs typeface="Calibri Light" panose="020F0302020204030204" pitchFamily="34" charset="0"/>
              </a:rPr>
              <a:t>enjoy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? What did you </a:t>
            </a:r>
            <a:r>
              <a:rPr lang="en-US" sz="3000">
                <a:cs typeface="Calibri Light" panose="020F0302020204030204" pitchFamily="34" charset="0"/>
              </a:rPr>
              <a:t>not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enjoy?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Did you </a:t>
            </a:r>
            <a:r>
              <a:rPr lang="en-US" sz="3000">
                <a:cs typeface="Calibri Light" panose="020F0302020204030204" pitchFamily="34" charset="0"/>
              </a:rPr>
              <a:t>learn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what you </a:t>
            </a:r>
            <a:r>
              <a:rPr lang="en-US" sz="3000">
                <a:cs typeface="Calibri Light" panose="020F0302020204030204" pitchFamily="34" charset="0"/>
              </a:rPr>
              <a:t>needed and wanted to 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learn?</a:t>
            </a:r>
          </a:p>
          <a:p>
            <a:pPr lvl="2"/>
            <a:r>
              <a:rPr lang="en-US" sz="3000">
                <a:latin typeface="+mj-lt"/>
                <a:cs typeface="Calibri Light" panose="020F0302020204030204" pitchFamily="34" charset="0"/>
              </a:rPr>
              <a:t>What could be </a:t>
            </a:r>
            <a:r>
              <a:rPr lang="en-US" sz="3000">
                <a:cs typeface="Calibri Light" panose="020F0302020204030204" pitchFamily="34" charset="0"/>
              </a:rPr>
              <a:t>improved</a:t>
            </a:r>
            <a:r>
              <a:rPr lang="en-US" sz="3000">
                <a:latin typeface="+mj-lt"/>
                <a:cs typeface="Calibri Light" panose="020F0302020204030204" pitchFamily="34" charset="0"/>
              </a:rPr>
              <a:t> for future trainees?</a:t>
            </a:r>
          </a:p>
        </p:txBody>
      </p:sp>
    </p:spTree>
    <p:extLst>
      <p:ext uri="{BB962C8B-B14F-4D97-AF65-F5344CB8AC3E}">
        <p14:creationId xmlns:p14="http://schemas.microsoft.com/office/powerpoint/2010/main" val="17573598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D2E9-C0D9-671C-0B49-EE05A36B27DE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600">
                <a:solidFill>
                  <a:srgbClr val="423583"/>
                </a:solidFill>
              </a:rPr>
              <a:t>Feedback</a:t>
            </a:r>
            <a:r>
              <a:rPr lang="en-US">
                <a:solidFill>
                  <a:srgbClr val="423583"/>
                </a:solidFill>
              </a:rPr>
              <a:t> </a:t>
            </a:r>
            <a:r>
              <a:rPr lang="en-US" sz="3600">
                <a:solidFill>
                  <a:srgbClr val="423583"/>
                </a:solidFill>
              </a:rPr>
              <a:t>Form</a:t>
            </a:r>
            <a:endParaRPr lang="en-US">
              <a:solidFill>
                <a:srgbClr val="42358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A28DE-1A08-1649-ABED-ECE9AE4919FF}"/>
              </a:ext>
            </a:extLst>
          </p:cNvPr>
          <p:cNvSpPr txBox="1">
            <a:spLocks/>
          </p:cNvSpPr>
          <p:nvPr/>
        </p:nvSpPr>
        <p:spPr>
          <a:xfrm>
            <a:off x="838200" y="1825628"/>
            <a:ext cx="9964918" cy="4009567"/>
          </a:xfrm>
          <a:prstGeom prst="rect">
            <a:avLst/>
          </a:prstGeom>
        </p:spPr>
        <p:txBody>
          <a:bodyPr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latin typeface="+mj-lt"/>
                <a:cs typeface="Calibri Light" panose="020F0302020204030204" pitchFamily="34" charset="0"/>
              </a:rPr>
              <a:t>Form: </a:t>
            </a:r>
            <a:r>
              <a:rPr lang="en-US" sz="3200">
                <a:latin typeface="+mj-lt"/>
                <a:cs typeface="Calibri Light" panose="020F0302020204030204" pitchFamily="34" charset="0"/>
                <a:hlinkClick r:id="rId2"/>
              </a:rPr>
              <a:t>https://forms.office.com/e/aDw8r4XmmC</a:t>
            </a:r>
            <a:endParaRPr lang="en-US" sz="3200">
              <a:latin typeface="+mj-lt"/>
              <a:cs typeface="Calibri Light" panose="020F0302020204030204" pitchFamily="34" charset="0"/>
            </a:endParaRPr>
          </a:p>
          <a:p>
            <a:pPr lvl="1"/>
            <a:r>
              <a:rPr lang="en-US" sz="2900">
                <a:latin typeface="+mj-lt"/>
                <a:cs typeface="Calibri Light" panose="020F0302020204030204" pitchFamily="34" charset="0"/>
              </a:rPr>
              <a:t>(will </a:t>
            </a:r>
            <a:r>
              <a:rPr lang="en-US" sz="2900">
                <a:latin typeface="+mn-lt"/>
                <a:cs typeface="Calibri Light" panose="020F0302020204030204" pitchFamily="34" charset="0"/>
              </a:rPr>
              <a:t>not</a:t>
            </a:r>
            <a:r>
              <a:rPr lang="en-US" sz="2900" b="1">
                <a:latin typeface="+mj-lt"/>
                <a:cs typeface="Calibri Light" panose="020F0302020204030204" pitchFamily="34" charset="0"/>
              </a:rPr>
              <a:t> </a:t>
            </a:r>
            <a:r>
              <a:rPr lang="en-US" sz="2900">
                <a:latin typeface="+mj-lt"/>
                <a:cs typeface="Calibri Light" panose="020F0302020204030204" pitchFamily="34" charset="0"/>
              </a:rPr>
              <a:t>record your name!) </a:t>
            </a:r>
          </a:p>
          <a:p>
            <a:endParaRPr lang="en-US" sz="3200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1019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4116A9B-31A0-4778-AFF9-0E57A2ABC30F}" vid="{44910B0E-AC19-4562-99DC-B6D6F749B9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9E360D75DDE845BD31B7204E9B8E6D" ma:contentTypeVersion="0" ma:contentTypeDescription="Create a new document." ma:contentTypeScope="" ma:versionID="659fdf77c7da3dae286546a3338ab1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be2570776fbcaa7c7a71900390d214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1E5AA6-C6AF-4367-93A3-EFA43BF19798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73297F-598B-4DCB-BCE9-E508A25225E1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D6B120D-A0FB-4DD8-992E-3D48283A8A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98</Slides>
  <Notes>95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99" baseType="lpstr">
      <vt:lpstr>Custom Design</vt:lpstr>
      <vt:lpstr>Introduction to R</vt:lpstr>
      <vt:lpstr>Pathway</vt:lpstr>
      <vt:lpstr>Introduction – the why</vt:lpstr>
      <vt:lpstr>R</vt:lpstr>
      <vt:lpstr>Foundations – the what</vt:lpstr>
      <vt:lpstr>Building Blocks</vt:lpstr>
      <vt:lpstr>Basic Data Types</vt:lpstr>
      <vt:lpstr>Type Conversion</vt:lpstr>
      <vt:lpstr>Variables</vt:lpstr>
      <vt:lpstr>Mathematical Operators</vt:lpstr>
      <vt:lpstr>Knowledge Check</vt:lpstr>
      <vt:lpstr>Anatomy of a Program</vt:lpstr>
      <vt:lpstr>Coding Case Types</vt:lpstr>
      <vt:lpstr>Style Guide</vt:lpstr>
      <vt:lpstr>Foundations – the what</vt:lpstr>
      <vt:lpstr>Data Structures</vt:lpstr>
      <vt:lpstr>Vectors</vt:lpstr>
      <vt:lpstr>Lists</vt:lpstr>
      <vt:lpstr>Naming Elements</vt:lpstr>
      <vt:lpstr>Knowledge Check</vt:lpstr>
      <vt:lpstr>Factors</vt:lpstr>
      <vt:lpstr>Knowledge Check</vt:lpstr>
      <vt:lpstr>Matrices</vt:lpstr>
      <vt:lpstr>Data Frames</vt:lpstr>
      <vt:lpstr>Tibbles</vt:lpstr>
      <vt:lpstr>Knowledge Check</vt:lpstr>
      <vt:lpstr>Foundations – the what</vt:lpstr>
      <vt:lpstr>Anatomy of a Function</vt:lpstr>
      <vt:lpstr>Packages</vt:lpstr>
      <vt:lpstr>Control Flow - if statements</vt:lpstr>
      <vt:lpstr>Knowledge Check</vt:lpstr>
      <vt:lpstr>Control Flow - case statements</vt:lpstr>
      <vt:lpstr>Control Flow - case statements</vt:lpstr>
      <vt:lpstr>Knowledge Check</vt:lpstr>
      <vt:lpstr>Iteration – for loop</vt:lpstr>
      <vt:lpstr>Iteration – for loop</vt:lpstr>
      <vt:lpstr>Iteration – loop with purrr</vt:lpstr>
      <vt:lpstr>Rstudio and Posit Workbench</vt:lpstr>
      <vt:lpstr>PowerPoint Presentation</vt:lpstr>
      <vt:lpstr>PowerPoint Presentation</vt:lpstr>
      <vt:lpstr>Posit Workbench</vt:lpstr>
      <vt:lpstr>Posit Workbench Guidance</vt:lpstr>
      <vt:lpstr>R Projects</vt:lpstr>
      <vt:lpstr>R Projects</vt:lpstr>
      <vt:lpstr>Data Flow</vt:lpstr>
      <vt:lpstr>Working Directory</vt:lpstr>
      <vt:lpstr>Working Directory</vt:lpstr>
      <vt:lpstr>CSV</vt:lpstr>
      <vt:lpstr>XLSX</vt:lpstr>
      <vt:lpstr>XLSX</vt:lpstr>
      <vt:lpstr>RDS</vt:lpstr>
      <vt:lpstr>Parquet</vt:lpstr>
      <vt:lpstr>Read SPSS</vt:lpstr>
      <vt:lpstr>Read Web</vt:lpstr>
      <vt:lpstr>Open Data – CKAN API</vt:lpstr>
      <vt:lpstr>Open Data – phsopendata</vt:lpstr>
      <vt:lpstr>Database (SMRA)</vt:lpstr>
      <vt:lpstr>Guidance on Filetypes</vt:lpstr>
      <vt:lpstr>Explore</vt:lpstr>
      <vt:lpstr>Inspect</vt:lpstr>
      <vt:lpstr>Mean/Median &amp; Summary</vt:lpstr>
      <vt:lpstr>Frequencies &amp; Crosstabs</vt:lpstr>
      <vt:lpstr>Exercise 1</vt:lpstr>
      <vt:lpstr>Wrangle</vt:lpstr>
      <vt:lpstr>Tidy Data</vt:lpstr>
      <vt:lpstr>Tidy Data</vt:lpstr>
      <vt:lpstr>Tidyverse</vt:lpstr>
      <vt:lpstr>dplyr</vt:lpstr>
      <vt:lpstr>Pipe Operator</vt:lpstr>
      <vt:lpstr>Pipe Operator</vt:lpstr>
      <vt:lpstr>Filter</vt:lpstr>
      <vt:lpstr>Filter</vt:lpstr>
      <vt:lpstr>Mutate</vt:lpstr>
      <vt:lpstr>Mutate</vt:lpstr>
      <vt:lpstr>Arrange</vt:lpstr>
      <vt:lpstr>Select</vt:lpstr>
      <vt:lpstr>Exercise 2</vt:lpstr>
      <vt:lpstr>Group By</vt:lpstr>
      <vt:lpstr>Summarise</vt:lpstr>
      <vt:lpstr>Count</vt:lpstr>
      <vt:lpstr>Exercise 3</vt:lpstr>
      <vt:lpstr>Rename</vt:lpstr>
      <vt:lpstr>Recode</vt:lpstr>
      <vt:lpstr>Exercise 4</vt:lpstr>
      <vt:lpstr>Joining Tables</vt:lpstr>
      <vt:lpstr>Join Types</vt:lpstr>
      <vt:lpstr>General Skills</vt:lpstr>
      <vt:lpstr>Debugging</vt:lpstr>
      <vt:lpstr>Debugging</vt:lpstr>
      <vt:lpstr>PowerPoint Presentation</vt:lpstr>
      <vt:lpstr>Continuous Learning</vt:lpstr>
      <vt:lpstr>Review</vt:lpstr>
      <vt:lpstr>Project</vt:lpstr>
      <vt:lpstr>Next Steps</vt:lpstr>
      <vt:lpstr>Getting Help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</dc:title>
  <dc:creator>Russell McCreath</dc:creator>
  <cp:revision>1</cp:revision>
  <cp:lastPrinted>2021-11-04T21:14:00Z</cp:lastPrinted>
  <dcterms:created xsi:type="dcterms:W3CDTF">2020-07-14T19:43:39Z</dcterms:created>
  <dcterms:modified xsi:type="dcterms:W3CDTF">2024-05-02T14:39:04Z</dcterms:modified>
</cp:coreProperties>
</file>